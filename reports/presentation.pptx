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Profit after tax (₹ crore)</a:t>
            </a:r>
          </a:p>
        </c:rich>
      </c:tx>
      <c:layout/>
      <c:overlay val="0"/>
    </c:title>
    <c:autoTitleDeleted val="0"/>
    <c:plotArea>
      <c:layout/>
      <c:barChart>
        <c:barDir val="col"/>
        <c:grouping val="clustered"/>
        <c:varyColors val="0"/>
        <c:ser>
          <c:idx val="0"/>
          <c:order val="0"/>
          <c:tx>
            <c:strRef>
              <c:f>Sheet1!$B$1</c:f>
              <c:strCache>
                <c:ptCount val="1"/>
                <c:pt idx="0">
                  <c:v>PAT (₹ crore)</c:v>
                </c:pt>
              </c:strCache>
            </c:strRef>
          </c:tx>
          <c:spPr>
            <a:solidFill>
              <a:srgbClr val="1A7F7A"/>
            </a:solidFill>
            <a:effectLst/>
          </c:spPr>
          <c:invertIfNegative val="0"/>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1918.59</c:v>
                </c:pt>
                <c:pt idx="1">
                  <c:v>2508.29</c:v>
                </c:pt>
                <c:pt idx="2">
                  <c:v>2771.94</c:v>
                </c:pt>
              </c:numCache>
            </c:numRef>
          </c:val>
        </c:ser>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noMultiLvlLbl val="1"/>
      </c:catAx>
      <c:valAx>
        <c:axId val="2094734552"/>
        <c:scaling>
          <c:orientation val="minMax"/>
          <c:min val="0"/>
        </c:scaling>
        <c:delete val="1"/>
        <c:axPos val="l"/>
        <c:majorGridlines>
          <c:spPr>
            <a:ln w="6350" cap="flat">
              <a:solidFill>
                <a:srgbClr val="E3E8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Operating ratios (%)</a:t>
            </a:r>
          </a:p>
        </c:rich>
      </c:tx>
      <c:layout/>
      <c:overlay val="0"/>
    </c:title>
    <c:autoTitleDeleted val="0"/>
    <c:plotArea>
      <c:layout/>
      <c:lineChart>
        <c:varyColors val="0"/>
        <c:ser>
          <c:idx val="0"/>
          <c:order val="0"/>
          <c:tx>
            <c:strRef>
              <c:f>Sheet1!$B$1</c:f>
              <c:strCache>
                <c:ptCount val="1"/>
                <c:pt idx="0">
                  <c:v>Claims / NEP</c:v>
                </c:pt>
              </c:strCache>
            </c:strRef>
          </c:tx>
          <c:spPr>
            <a:solidFill>
              <a:srgbClr val="0F3D3E"/>
            </a:solidFill>
            <a:ln w="31750" cap="flat">
              <a:solidFill>
                <a:srgbClr val="0F3D3E"/>
              </a:solidFill>
              <a:prstDash val="solid"/>
              <a:round/>
            </a:ln>
            <a:effectLst/>
          </c:spPr>
          <c:invertIfNegative val="0"/>
          <c:dLbls>
            <c:numFmt formatCode="0.0" sourceLinked="0"/>
            <c:txPr>
              <a:bodyPr/>
              <a:lstStyle/>
              <a:p>
                <a:pPr>
                  <a:defRPr b="0" i="0" strike="noStrike" sz="1100" u="none">
                    <a:solidFill>
                      <a:srgbClr val="1F2933"/>
                    </a:solidFill>
                    <a:latin typeface="Calibri"/>
                  </a:defRPr>
                </a:pPr>
              </a:p>
            </c:txPr>
            <c:dLblPos val="t"/>
            <c:showLegendKey val="0"/>
            <c:showVal val="1"/>
            <c:showCatName val="0"/>
            <c:showSerName val="0"/>
            <c:showPercent val="0"/>
            <c:showBubbleSize val="0"/>
            <c:showLeaderLines val="0"/>
          </c:dLbls>
          <c:marker>
            <c:symbol val="circle"/>
            <c:size val="7"/>
            <c:spPr>
              <a:solidFill>
                <a:srgbClr val="0F3D3E"/>
              </a:solidFill>
              <a:ln w="9525" cap="flat">
                <a:solidFill>
                  <a:srgbClr val="0F3D3E"/>
                </a:solidFill>
                <a:prstDash val="solid"/>
                <a:round/>
              </a:ln>
              <a:effectLst/>
            </c:spPr>
          </c:marker>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70.8</c:v>
                </c:pt>
                <c:pt idx="1">
                  <c:v>70.6</c:v>
                </c:pt>
                <c:pt idx="2">
                  <c:v>71.1</c:v>
                </c:pt>
              </c:numCache>
            </c:numRef>
          </c:val>
          <c:smooth val="0"/>
        </c:ser>
        <c:ser>
          <c:idx val="1"/>
          <c:order val="1"/>
          <c:tx>
            <c:strRef>
              <c:f>Sheet1!$C$1</c:f>
              <c:strCache>
                <c:ptCount val="1"/>
                <c:pt idx="0">
                  <c:v>Expenses of mgmt / GDPI</c:v>
                </c:pt>
              </c:strCache>
            </c:strRef>
          </c:tx>
          <c:spPr>
            <a:solidFill>
              <a:srgbClr val="E9A23B"/>
            </a:solidFill>
            <a:ln w="31750" cap="flat">
              <a:solidFill>
                <a:srgbClr val="E9A23B"/>
              </a:solidFill>
              <a:prstDash val="solid"/>
              <a:round/>
            </a:ln>
            <a:effectLst/>
          </c:spPr>
          <c:invertIfNegative val="0"/>
          <c:dLbls>
            <c:numFmt formatCode="0.0" sourceLinked="0"/>
            <c:txPr>
              <a:bodyPr/>
              <a:lstStyle/>
              <a:p>
                <a:pPr>
                  <a:defRPr b="0" i="0" strike="noStrike" sz="1100" u="none">
                    <a:solidFill>
                      <a:srgbClr val="1F2933"/>
                    </a:solidFill>
                    <a:latin typeface="Calibri"/>
                  </a:defRPr>
                </a:pPr>
              </a:p>
            </c:txPr>
            <c:dLblPos val="t"/>
            <c:showLegendKey val="0"/>
            <c:showVal val="1"/>
            <c:showCatName val="0"/>
            <c:showSerName val="0"/>
            <c:showPercent val="0"/>
            <c:showBubbleSize val="0"/>
            <c:showLeaderLines val="0"/>
          </c:dLbls>
          <c:marker>
            <c:symbol val="circle"/>
            <c:size val="7"/>
            <c:spPr>
              <a:solidFill>
                <a:srgbClr val="E9A23B"/>
              </a:solidFill>
              <a:ln w="9525" cap="flat">
                <a:solidFill>
                  <a:srgbClr val="E9A23B"/>
                </a:solidFill>
                <a:prstDash val="solid"/>
                <a:round/>
              </a:ln>
              <a:effectLst/>
            </c:spPr>
          </c:marker>
          <c:cat>
            <c:multiLvlStrRef>
              <c:f>Sheet1!$A$2:$A$4</c:f>
              <c:multiLvlStrCache>
                <c:ptCount val="3"/>
                <c:lvl>
                  <c:pt idx="0">
                    <c:v>FY2024</c:v>
                  </c:pt>
                  <c:pt idx="1">
                    <c:v>FY2025</c:v>
                  </c:pt>
                  <c:pt idx="2">
                    <c:v>FY2026</c:v>
                  </c:pt>
                </c:lvl>
              </c:multiLvlStrCache>
            </c:multiLvlStrRef>
          </c:cat>
          <c:val>
            <c:numRef>
              <c:f>Sheet1!$C$2:$C$4</c:f>
              <c:numCache>
                <c:formatCode>General</c:formatCode>
                <c:ptCount val="3"/>
                <c:pt idx="0">
                  <c:v>29.8</c:v>
                </c:pt>
                <c:pt idx="1">
                  <c:v>30.8</c:v>
                </c:pt>
                <c:pt idx="2">
                  <c:v>32</c:v>
                </c:pt>
              </c:numCache>
            </c:numRef>
          </c:val>
          <c:smooth val="0"/>
        </c:ser>
        <c:ser>
          <c:idx val="2"/>
          <c:order val="2"/>
          <c:tx>
            <c:strRef>
              <c:f>Sheet1!$D$1</c:f>
              <c:strCache>
                <c:ptCount val="1"/>
                <c:pt idx="0">
                  <c:v>Net commission ratio</c:v>
                </c:pt>
              </c:strCache>
            </c:strRef>
          </c:tx>
          <c:spPr>
            <a:solidFill>
              <a:srgbClr val="1A7F7A"/>
            </a:solidFill>
            <a:ln w="31750" cap="flat">
              <a:solidFill>
                <a:srgbClr val="1A7F7A"/>
              </a:solidFill>
              <a:prstDash val="solid"/>
              <a:round/>
            </a:ln>
            <a:effectLst/>
          </c:spPr>
          <c:invertIfNegative val="0"/>
          <c:dLbls>
            <c:numFmt formatCode="0.0" sourceLinked="0"/>
            <c:txPr>
              <a:bodyPr/>
              <a:lstStyle/>
              <a:p>
                <a:pPr>
                  <a:defRPr b="0" i="0" strike="noStrike" sz="1100" u="none">
                    <a:solidFill>
                      <a:srgbClr val="1F2933"/>
                    </a:solidFill>
                    <a:latin typeface="Calibri"/>
                  </a:defRPr>
                </a:pPr>
              </a:p>
            </c:txPr>
            <c:dLblPos val="t"/>
            <c:showLegendKey val="0"/>
            <c:showVal val="1"/>
            <c:showCatName val="0"/>
            <c:showSerName val="0"/>
            <c:showPercent val="0"/>
            <c:showBubbleSize val="0"/>
            <c:showLeaderLines val="0"/>
          </c:dLbls>
          <c:marker>
            <c:symbol val="circle"/>
            <c:size val="7"/>
            <c:spPr>
              <a:solidFill>
                <a:srgbClr val="1A7F7A"/>
              </a:solidFill>
              <a:ln w="9525" cap="flat">
                <a:solidFill>
                  <a:srgbClr val="1A7F7A"/>
                </a:solidFill>
                <a:prstDash val="solid"/>
                <a:round/>
              </a:ln>
              <a:effectLst/>
            </c:spPr>
          </c:marker>
          <c:cat>
            <c:multiLvlStrRef>
              <c:f>Sheet1!$A$2:$A$4</c:f>
              <c:multiLvlStrCache>
                <c:ptCount val="3"/>
                <c:lvl>
                  <c:pt idx="0">
                    <c:v>FY2024</c:v>
                  </c:pt>
                  <c:pt idx="1">
                    <c:v>FY2025</c:v>
                  </c:pt>
                  <c:pt idx="2">
                    <c:v>FY2026</c:v>
                  </c:pt>
                </c:lvl>
              </c:multiLvlStrCache>
            </c:multiLvlStrRef>
          </c:cat>
          <c:val>
            <c:numRef>
              <c:f>Sheet1!$D$2:$D$4</c:f>
              <c:numCache>
                <c:formatCode>General</c:formatCode>
                <c:ptCount val="3"/>
                <c:pt idx="0">
                  <c:v>17</c:v>
                </c:pt>
                <c:pt idx="1">
                  <c:v>18.5</c:v>
                </c:pt>
                <c:pt idx="2">
                  <c:v>19</c:v>
                </c:pt>
              </c:numCache>
            </c:numRef>
          </c:val>
          <c:smooth val="0"/>
        </c:ser>
        <c:dLbls>
          <c:numFmt formatCode="0.0" sourceLinked="0"/>
          <c:txPr>
            <a:bodyPr/>
            <a:lstStyle/>
            <a:p>
              <a:pPr>
                <a:defRPr b="0" i="0" strike="noStrike" sz="1100" u="none">
                  <a:solidFill>
                    <a:srgbClr val="1F2933"/>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6350" cap="flat">
              <a:solidFill>
                <a:srgbClr val="E3E8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Sharpe ratio (risk-free 6%)</a:t>
            </a:r>
          </a:p>
        </c:rich>
      </c:tx>
      <c:layout/>
      <c:overlay val="0"/>
    </c:title>
    <c:autoTitleDeleted val="0"/>
    <c:plotArea>
      <c:layout/>
      <c:barChart>
        <c:barDir val="col"/>
        <c:grouping val="clustered"/>
        <c:varyColors val="0"/>
        <c:ser>
          <c:idx val="0"/>
          <c:order val="0"/>
          <c:tx>
            <c:strRef>
              <c:f>Sheet1!$B$1</c:f>
              <c:strCache>
                <c:ptCount val="1"/>
                <c:pt idx="0">
                  <c:v>Sharpe</c:v>
                </c:pt>
              </c:strCache>
            </c:strRef>
          </c:tx>
          <c:spPr>
            <a:solidFill>
              <a:srgbClr val="1A7F7A"/>
            </a:solidFill>
            <a:effectLst/>
          </c:spPr>
          <c:invertIfNegative val="0"/>
          <c:dLbls>
            <c:numFmt formatCode="0.00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GIC Re</c:v>
                  </c:pt>
                  <c:pt idx="1">
                    <c:v>Equal wt</c:v>
                  </c:pt>
                  <c:pt idx="2">
                    <c:v>NIFTY 50</c:v>
                  </c:pt>
                  <c:pt idx="3">
                    <c:v>ICICI L.</c:v>
                  </c:pt>
                  <c:pt idx="4">
                    <c:v>SBI Life</c:v>
                  </c:pt>
                  <c:pt idx="5">
                    <c:v>Min var</c:v>
                  </c:pt>
                  <c:pt idx="6">
                    <c:v>Max Sharpe</c:v>
                  </c:pt>
                </c:lvl>
              </c:multiLvlStrCache>
            </c:multiLvlStrRef>
          </c:cat>
          <c:val>
            <c:numRef>
              <c:f>Sheet1!$B$2:$B$8</c:f>
              <c:numCache>
                <c:formatCode>General</c:formatCode>
                <c:ptCount val="7"/>
                <c:pt idx="0">
                  <c:v>0.033</c:v>
                </c:pt>
                <c:pt idx="1">
                  <c:v>0.242</c:v>
                </c:pt>
                <c:pt idx="2">
                  <c:v>0.291</c:v>
                </c:pt>
                <c:pt idx="3">
                  <c:v>0.33</c:v>
                </c:pt>
                <c:pt idx="4">
                  <c:v>0.34</c:v>
                </c:pt>
                <c:pt idx="5">
                  <c:v>0.354</c:v>
                </c:pt>
                <c:pt idx="6">
                  <c:v>0.372</c:v>
                </c:pt>
              </c:numCache>
            </c:numRef>
          </c:val>
        </c:ser>
        <c:dLbls>
          <c:numFmt formatCode="0.00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2"/>
        <c:crosses val="autoZero"/>
        <c:auto val="1"/>
        <c:lblAlgn val="ctr"/>
        <c:noMultiLvlLbl val="1"/>
      </c:catAx>
      <c:valAx>
        <c:axId val="2094734552"/>
        <c:scaling>
          <c:orientation val="minMax"/>
          <c:max val="0.45"/>
          <c:min val="0"/>
        </c:scaling>
        <c:delete val="1"/>
        <c:axPos val="l"/>
        <c:majorGridlines>
          <c:spPr>
            <a:ln w="6350" cap="flat">
              <a:solidFill>
                <a:srgbClr val="E3E8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Calibri"/>
              </a:defRPr>
            </a:pPr>
            <a:r>
              <a:rPr sz="1300" b="0" i="0" u="none" strike="noStrike">
                <a:solidFill>
                  <a:srgbClr val="1F2933"/>
                </a:solidFill>
                <a:latin typeface="Calibri"/>
              </a:rPr>
              <a:t>% of claimants captured by review share</a:t>
            </a:r>
          </a:p>
        </c:rich>
      </c:tx>
      <c:layout/>
      <c:overlay val="0"/>
    </c:title>
    <c:autoTitleDeleted val="0"/>
    <c:plotArea>
      <c:layout/>
      <c:barChart>
        <c:barDir val="col"/>
        <c:grouping val="clustered"/>
        <c:varyColors val="0"/>
        <c:ser>
          <c:idx val="0"/>
          <c:order val="0"/>
          <c:tx>
            <c:strRef>
              <c:f>Sheet1!$B$1</c:f>
              <c:strCache>
                <c:ptCount val="1"/>
                <c:pt idx="0">
                  <c:v>Share of claimants captured</c:v>
                </c:pt>
              </c:strCache>
            </c:strRef>
          </c:tx>
          <c:spPr>
            <a:solidFill>
              <a:srgbClr val="1A7F7A"/>
            </a:solidFill>
            <a:effectLst/>
          </c:spPr>
          <c:invertIfNegative val="0"/>
          <c:dLbls>
            <c:numFmt formatCode="0.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Top 1%</c:v>
                  </c:pt>
                  <c:pt idx="1">
                    <c:v>Top 5%</c:v>
                  </c:pt>
                  <c:pt idx="2">
                    <c:v>Top 10%</c:v>
                  </c:pt>
                  <c:pt idx="3">
                    <c:v>Top 20%</c:v>
                  </c:pt>
                  <c:pt idx="4">
                    <c:v>Top 30%</c:v>
                  </c:pt>
                </c:lvl>
              </c:multiLvlStrCache>
            </c:multiLvlStrRef>
          </c:cat>
          <c:val>
            <c:numRef>
              <c:f>Sheet1!$B$2:$B$6</c:f>
              <c:numCache>
                <c:formatCode>General</c:formatCode>
                <c:ptCount val="5"/>
                <c:pt idx="0">
                  <c:v>6.4</c:v>
                </c:pt>
                <c:pt idx="1">
                  <c:v>17.6</c:v>
                </c:pt>
                <c:pt idx="2">
                  <c:v>26.3</c:v>
                </c:pt>
                <c:pt idx="3">
                  <c:v>40.6</c:v>
                </c:pt>
                <c:pt idx="4">
                  <c:v>52.2</c:v>
                </c:pt>
              </c:numCache>
            </c:numRef>
          </c:val>
        </c:ser>
        <c:dLbls>
          <c:numFmt formatCode="0.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noMultiLvlLbl val="1"/>
      </c:catAx>
      <c:valAx>
        <c:axId val="2094734552"/>
        <c:scaling>
          <c:orientation val="minMax"/>
          <c:max val="62"/>
          <c:min val="0"/>
        </c:scaling>
        <c:delete val="1"/>
        <c:axPos val="l"/>
        <c:majorGridlines>
          <c:spPr>
            <a:ln w="6350" cap="flat">
              <a:solidFill>
                <a:srgbClr val="E3E8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topic. Sector chosen: Insurance and Risk Analytics. Four analyses: financial statements of ICICI Lombard, market risk of three insurance stocks, a claim-risk model, and anomaly screening. Valuation techniques are deliberately not covered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 overview. Insurance pools many independent risks. Two profit sources: underwriting profit and investment income on float. Combined ratio above 100% means underwriting loses money. Industry combined ratio was 119.3% in the first nine months of FY2026 per ICICI Lombard's annual report. Objective: show how analytics supports decisions and state clearly what each analysis can and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and rationale. Emphasise that the workbook was checked line by line against audited annual reports: 36 checks, with calculation errors corrected, e.g. FY2024 operating profit ratio was 16% (the FY2023 value) and is 11.2% as published; the CAPM formula was wrong. Stock data caveats: prices exclude dividends and the June 2026 point appears mid-month. The French data is a standard public benchmark but not Indian data, so no result transfers to ICICI Lombard.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statement analysis. GDPI grew 8.3% then 7.0%. PAT rose from 1,918.59 to 2,771.94 crore, up 44.5% in two years. PAT per rupee of GDPI rose from 7.74 to 9.65 paise. Part of FY2025 growth was non-operating: total (B) provisions fell from 200.74 to 9.82 crore because a 95.82 crore provision became a 40.54 crore write-back; this 190.92 crore swing explains about 24.9% of the rise in PBT. So FY2026 growth of 10.5% is the better guide to momentum. RoAE slipped from 19.1% to 17.8% as reserves grew 18.4%. Miscellaneous (motor, health, liability) profit up 31.9%; Fire down 19.5%; Marine turned to a loss of 73.62 crore.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Underwriting and solvency. Combined ratio 103.3%, 102.8%, 103.4%. On the n basis, which removes the 1/n accounting change, it improved from 102.6% to 102.4%, so part of the FY2026 rise is accounting. Claims ratio stable at about 71%. Commission ratio rose 17.0% to 19.0% and expenses of management to GDPI rose 29.8% to 32.0%: cost drift, not claims, pushes the ratio up. Commission is part of expenses of management under IRDAI 2023 rules, so the two ratios overlap and are not added. Solvency 2.67x against the 1.50x minimum. Fair value change accounts fell from +680.74 crore to -774.47 crore, showing unrealised market losses. Piotroski-style score 4 of 7 applicable criteria; designed for industrial firms so treat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measurement and portfolio optimisation. 104 monthly returns, risk-free rate 6%. Sharpe: SBI Life 0.340, ICICI Lombard 0.330, NIFTY 0.291, GIC Re 0.033. GIC Re volatility 44.35% and maximum drawdown -73.8%; its arithmetic return of 7.47% sits beside a negative CAGR of -1.95% because volatility drag is roughly sigma squared over two. Beta: ICICI Lombard 0.834 (defensive), SBI Life 0.939, GIC Re 1.205. Equal-weight portfolio Sharpe 0.242 is below the index because a third is in GIC Re. Maximum Sharpe portfolio: 49.64% ICICI Lombard, 50.36% SBI Life, 0% GIC Re, return 14.20%, risk 22.04%, Sharpe 0.372. Minimum variance: risk 21.66%. Caveat: over the last 36 months GIC Re returned 28.3% a year, so optimised weights depend on the window (Michaud, 1989); treat as a diagnostic, not an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Credit/claim risk analytics. Target: Claim_Flag = 1 if the policy has at least one claim; 5.02% of 678,013 policies. Models compared on validation data: logistic regression AUC 0.595, random forest 0.646, gradient boosting 0.666. Test set scored once: AUC 0.665 (95% CI 0.658 to 0.671), Average Precision 0.126 versus 0.050 for no skill. Accuracy is not reported because a dummy model scores 95% with no skill. Reviewing the riskiest 10% captures 26.3% of claimants; the top 1% has a 32.0% claim rate, 6.4 times the average. Calibration is close in every decile. At the F1 threshold precision is 15.5% and about three of four claimants are not flagged, so this ranks risk but is weak for single-policy prediction. A Poisson frequency model with exposure explains 8.2% of test deviance and predicted 7,221 claims against 7,225 observed. Not validated on Indian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and anomaly detection. Two Isolation Forest screens, 200 trees, contamination 1%. Screen A is prospective and uses only pre-outcome fields (vehicle power, vehicle age, driver age, Bonus-Malus, density): 6,557 flagged, only 8.1% had a claim, so it is a profile and data-quality check usable at underwriting. Screen B is retrospective and uses claim count, exposure and a claims surprise measure: 6,672 flagged, almost all with claims, finding claim bursts in short exposure. Top record had two claims in 0.0027 years. Stability across seeds: Jaccard 0.69 and 0.77. No fraud labels exist, so no flag can be called fraud; these are review priorities. Screen B output must never feed the prediction models because that would leak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and technology. Tools used: Excel with OpenSolver for the financial and portfolio work; Python with pandas, scikit-learn, SciPy, Matplotlib and ipywidgets for models and the interactive Policy Claim Probability Predictor. The predictor is a prototype with sliders, risk band, alert flag, claims per policy-year and partial-dependence explanation bars, plus a 'Not validated for India' notice. Generative AI was NOT used in the models; be honest about this in the viva. Possible future uses: summarising claim files for adjusters, drafting customer letters for human approval, plain-language model explanations. Risks: fluent but wrong output, customer data must follow the DPDP Act 2023, explanations may sound more certain than the model. Need grounding, human review and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risks, mitigation and implications. Sensitivity: one percentage point of loss ratio on FY2026 net earned premium of about 22,264 crore is worth about 223 crore before tax, roughly 8% of FY2026 PAT. Priority recommendations: track combined ratio by segment on both 1/n and n bases; set investment risk limits and report VaR and drawdown; validate the claim model on local dated data before any Indian use; set the alert threshold from real review costs; never decline automatically; log anomaly review outcomes; add fairness review, drift monitoring and independent validation. Limitations: one insurer over three years, price-only stock data, French claim data without dates or fraud labels. Conclusion: profitability rests on capital strength and investment income, not underwriting.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6583680" y="-1097280"/>
            <a:ext cx="3840480" cy="3840480"/>
          </a:xfrm>
          <a:prstGeom prst="ellipse">
            <a:avLst/>
          </a:prstGeom>
          <a:solidFill>
            <a:srgbClr val="1A7F7A">
              <a:alpha val="45000"/>
            </a:srgbClr>
          </a:solidFill>
          <a:ln w="12700">
            <a:solidFill>
              <a:srgbClr val="1A7F7A"/>
            </a:solidFill>
            <a:prstDash val="solid"/>
          </a:ln>
        </p:spPr>
      </p:sp>
      <p:sp>
        <p:nvSpPr>
          <p:cNvPr id="3" name="Shape 1"/>
          <p:cNvSpPr/>
          <p:nvPr/>
        </p:nvSpPr>
        <p:spPr>
          <a:xfrm>
            <a:off x="7498080" y="2377440"/>
            <a:ext cx="2743200" cy="2743200"/>
          </a:xfrm>
          <a:prstGeom prst="ellipse">
            <a:avLst/>
          </a:prstGeom>
          <a:solidFill>
            <a:srgbClr val="E9A23B">
              <a:alpha val="30000"/>
            </a:srgbClr>
          </a:solidFill>
          <a:ln w="12700">
            <a:solidFill>
              <a:srgbClr val="E9A23B"/>
            </a:solidFill>
            <a:prstDash val="solid"/>
          </a:ln>
        </p:spPr>
      </p:sp>
      <p:sp>
        <p:nvSpPr>
          <p:cNvPr id="4" name="Text 2"/>
          <p:cNvSpPr txBox="1"/>
          <p:nvPr/>
        </p:nvSpPr>
        <p:spPr>
          <a:xfrm>
            <a:off x="548640" y="640080"/>
            <a:ext cx="6400800" cy="274320"/>
          </a:xfrm>
          <a:prstGeom prst="rect">
            <a:avLst/>
          </a:prstGeom>
          <a:noFill/>
          <a:ln/>
        </p:spPr>
        <p:txBody>
          <a:bodyPr wrap="square" lIns="0" tIns="0" rIns="0" bIns="0" rtlCol="0" anchor="ctr"/>
          <a:lstStyle/>
          <a:p>
            <a:pPr indent="0" marL="0">
              <a:buNone/>
            </a:pPr>
            <a:r>
              <a:rPr lang="en-US" sz="1200" b="1" spc="200" kern="0" dirty="0">
                <a:solidFill>
                  <a:srgbClr val="E9A23B"/>
                </a:solidFill>
                <a:latin typeface="Calibri" pitchFamily="34" charset="0"/>
                <a:ea typeface="Calibri" pitchFamily="34" charset="-122"/>
                <a:cs typeface="Calibri" pitchFamily="34" charset="-120"/>
              </a:rPr>
              <a:t>CIA-4 | SECTOR ANALYSIS | INSURANCE AND RISK ANALYTICS</a:t>
            </a:r>
            <a:endParaRPr lang="en-US" sz="1200" dirty="0"/>
          </a:p>
        </p:txBody>
      </p:sp>
      <p:sp>
        <p:nvSpPr>
          <p:cNvPr id="5" name="Text 3"/>
          <p:cNvSpPr txBox="1"/>
          <p:nvPr/>
        </p:nvSpPr>
        <p:spPr>
          <a:xfrm>
            <a:off x="548640" y="1188720"/>
            <a:ext cx="6583680" cy="13716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Financial and Risk Analytics in the Insurance Sector</a:t>
            </a:r>
            <a:endParaRPr lang="en-US" sz="3800" dirty="0"/>
          </a:p>
        </p:txBody>
      </p:sp>
      <p:sp>
        <p:nvSpPr>
          <p:cNvPr id="6" name="Text 4"/>
          <p:cNvSpPr txBox="1"/>
          <p:nvPr/>
        </p:nvSpPr>
        <p:spPr>
          <a:xfrm>
            <a:off x="548640" y="2697480"/>
            <a:ext cx="6035040" cy="640080"/>
          </a:xfrm>
          <a:prstGeom prst="rect">
            <a:avLst/>
          </a:prstGeom>
          <a:noFill/>
          <a:ln/>
        </p:spPr>
        <p:txBody>
          <a:bodyPr wrap="square" lIns="0" tIns="0" rIns="0" bIns="0" rtlCol="0" anchor="t"/>
          <a:lstStyle/>
          <a:p>
            <a:pPr indent="0" marL="0">
              <a:buNone/>
            </a:pPr>
            <a:r>
              <a:rPr lang="en-US" sz="1800" i="1" dirty="0">
                <a:solidFill>
                  <a:srgbClr val="BFE3DC"/>
                </a:solidFill>
                <a:latin typeface="Calibri" pitchFamily="34" charset="0"/>
                <a:ea typeface="Calibri" pitchFamily="34" charset="-122"/>
                <a:cs typeface="Calibri" pitchFamily="34" charset="-120"/>
              </a:rPr>
              <a:t>Financial statements, market risk, claim-risk prediction and anomaly screening</a:t>
            </a:r>
            <a:endParaRPr lang="en-US" sz="1800" dirty="0"/>
          </a:p>
        </p:txBody>
      </p:sp>
      <p:sp>
        <p:nvSpPr>
          <p:cNvPr id="7" name="Text 5"/>
          <p:cNvSpPr txBox="1"/>
          <p:nvPr/>
        </p:nvSpPr>
        <p:spPr>
          <a:xfrm>
            <a:off x="548640" y="3749040"/>
            <a:ext cx="7315200" cy="868680"/>
          </a:xfrm>
          <a:prstGeom prst="rect">
            <a:avLst/>
          </a:prstGeom>
          <a:noFill/>
          <a:ln/>
        </p:spPr>
        <p:txBody>
          <a:bodyPr wrap="square" lIns="0" tIns="0" rIns="0" bIns="0" rtlCol="0" anchor="t"/>
          <a:lstStyle/>
          <a:p>
            <a:pPr indent="0" marL="0">
              <a:spcAft>
                <a:spcPts val="300"/>
              </a:spcAft>
              <a:buNone/>
            </a:pPr>
            <a:r>
              <a:rPr lang="en-US" sz="1300" b="1" dirty="0">
                <a:solidFill>
                  <a:srgbClr val="FFFFFF"/>
                </a:solidFill>
                <a:latin typeface="Calibri" pitchFamily="34" charset="0"/>
                <a:ea typeface="Calibri" pitchFamily="34" charset="-122"/>
                <a:cs typeface="Calibri" pitchFamily="34" charset="-120"/>
              </a:rPr>
              <a:t>Alex Abraham | 25121007</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MBA (Batch 2025-27), Trimester IV | Financial and Risk Analytics (MBA441B)</a:t>
            </a:r>
            <a:endParaRPr lang="en-US" sz="1300" dirty="0"/>
          </a:p>
          <a:p>
            <a:pPr indent="0" marL="0">
              <a:spcAft>
                <a:spcPts val="300"/>
              </a:spcAft>
              <a:buNone/>
            </a:pPr>
            <a:r>
              <a:rPr lang="en-US" sz="1300" dirty="0">
                <a:solidFill>
                  <a:srgbClr val="FFFFFF"/>
                </a:solidFill>
                <a:latin typeface="Calibri" pitchFamily="34" charset="0"/>
                <a:ea typeface="Calibri" pitchFamily="34" charset="-122"/>
                <a:cs typeface="Calibri" pitchFamily="34" charset="-120"/>
              </a:rPr>
              <a:t>CHRIST (Deemed to be University), Pune Lavasa Campus | Faculty: Dr. Abhijeet Birari | 9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400" b="1" dirty="0">
                <a:solidFill>
                  <a:srgbClr val="0F3D3E"/>
                </a:solidFill>
                <a:latin typeface="Cambria" pitchFamily="34" charset="0"/>
                <a:ea typeface="Cambria" pitchFamily="34" charset="-122"/>
                <a:cs typeface="Cambria" pitchFamily="34" charset="-120"/>
              </a:rPr>
              <a:t>Insurers earn on float, so risk selection decides profit</a:t>
            </a:r>
            <a:endParaRPr lang="en-US" sz="24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Alex Abraham | 25121007 | Financial and Risk Analytics | CIA-4 Insurance</a:t>
            </a:r>
            <a:endParaRPr lang="en-US" sz="10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
        <p:nvSpPr>
          <p:cNvPr id="6" name="Text 3"/>
          <p:cNvSpPr txBox="1"/>
          <p:nvPr/>
        </p:nvSpPr>
        <p:spPr>
          <a:xfrm>
            <a:off x="457200" y="1097280"/>
            <a:ext cx="4023360" cy="274320"/>
          </a:xfrm>
          <a:prstGeom prst="rect">
            <a:avLst/>
          </a:prstGeom>
          <a:noFill/>
          <a:ln/>
        </p:spPr>
        <p:txBody>
          <a:bodyPr wrap="square" lIns="0" tIns="0" rIns="0" bIns="0" rtlCol="0" anchor="ctr"/>
          <a:lstStyle/>
          <a:p>
            <a:pPr indent="0" marL="0">
              <a:buNone/>
            </a:pPr>
            <a:r>
              <a:rPr lang="en-US" sz="1600" b="1" dirty="0">
                <a:solidFill>
                  <a:srgbClr val="1A7F7A"/>
                </a:solidFill>
                <a:latin typeface="Cambria" pitchFamily="34" charset="0"/>
                <a:ea typeface="Cambria" pitchFamily="34" charset="-122"/>
                <a:cs typeface="Cambria" pitchFamily="34" charset="-120"/>
              </a:rPr>
              <a:t>Business model and revenue</a:t>
            </a:r>
            <a:endParaRPr lang="en-US" sz="1600" dirty="0"/>
          </a:p>
        </p:txBody>
      </p:sp>
      <p:sp>
        <p:nvSpPr>
          <p:cNvPr id="7" name="Text 4"/>
          <p:cNvSpPr txBox="1"/>
          <p:nvPr/>
        </p:nvSpPr>
        <p:spPr>
          <a:xfrm>
            <a:off x="457200" y="1417320"/>
            <a:ext cx="4023360" cy="18288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Collect premium now, pay uncertain claims later</a:t>
            </a:r>
            <a:endParaRPr lang="en-US" sz="1400" dirty="0"/>
          </a:p>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Profit = underwriting result + investment income on float</a:t>
            </a:r>
            <a:endParaRPr lang="en-US" sz="1400" dirty="0"/>
          </a:p>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Combined ratio above 100% means profit depends on investments</a:t>
            </a:r>
            <a:endParaRPr lang="en-US" sz="1400" dirty="0"/>
          </a:p>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Three sub-sectors studied: general (ICICI Lombard), life (SBI Life), reinsurance (GIC Re)</a:t>
            </a:r>
            <a:endParaRPr lang="en-US" sz="1400" dirty="0"/>
          </a:p>
        </p:txBody>
      </p:sp>
      <p:sp>
        <p:nvSpPr>
          <p:cNvPr id="8" name="Text 5"/>
          <p:cNvSpPr txBox="1"/>
          <p:nvPr/>
        </p:nvSpPr>
        <p:spPr>
          <a:xfrm>
            <a:off x="457200" y="3246120"/>
            <a:ext cx="4023360" cy="274320"/>
          </a:xfrm>
          <a:prstGeom prst="rect">
            <a:avLst/>
          </a:prstGeom>
          <a:noFill/>
          <a:ln/>
        </p:spPr>
        <p:txBody>
          <a:bodyPr wrap="square" lIns="0" tIns="0" rIns="0" bIns="0" rtlCol="0" anchor="ctr"/>
          <a:lstStyle/>
          <a:p>
            <a:pPr indent="0" marL="0">
              <a:buNone/>
            </a:pPr>
            <a:r>
              <a:rPr lang="en-US" sz="1600" b="1" dirty="0">
                <a:solidFill>
                  <a:srgbClr val="1A7F7A"/>
                </a:solidFill>
                <a:latin typeface="Cambria" pitchFamily="34" charset="0"/>
                <a:ea typeface="Cambria" pitchFamily="34" charset="-122"/>
                <a:cs typeface="Cambria" pitchFamily="34" charset="-120"/>
              </a:rPr>
              <a:t>Major risks</a:t>
            </a:r>
            <a:endParaRPr lang="en-US" sz="1600" dirty="0"/>
          </a:p>
        </p:txBody>
      </p:sp>
      <p:sp>
        <p:nvSpPr>
          <p:cNvPr id="9" name="Text 6"/>
          <p:cNvSpPr txBox="1"/>
          <p:nvPr/>
        </p:nvSpPr>
        <p:spPr>
          <a:xfrm>
            <a:off x="457200" y="3566160"/>
            <a:ext cx="4023360" cy="1097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Underwriting, reserving and catastrophe</a:t>
            </a:r>
            <a:endParaRPr lang="en-US" sz="1400" dirty="0"/>
          </a:p>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Market and liquidity</a:t>
            </a:r>
            <a:endParaRPr lang="en-US" sz="1400" dirty="0"/>
          </a:p>
          <a:p>
            <a:pPr marL="342900" indent="-342900">
              <a:spcAft>
                <a:spcPts val="500"/>
              </a:spcAft>
              <a:buSzPct val="100000"/>
              <a:buChar char="•"/>
            </a:pPr>
            <a:r>
              <a:rPr lang="en-US" sz="1400" dirty="0">
                <a:solidFill>
                  <a:srgbClr val="1F2933"/>
                </a:solidFill>
                <a:latin typeface="Calibri" pitchFamily="34" charset="0"/>
                <a:ea typeface="Calibri" pitchFamily="34" charset="-122"/>
                <a:cs typeface="Calibri" pitchFamily="34" charset="-120"/>
              </a:rPr>
              <a:t>Fraud, data and model risk; regulatory (IRDAI)</a:t>
            </a:r>
            <a:endParaRPr lang="en-US" sz="1400" dirty="0"/>
          </a:p>
        </p:txBody>
      </p:sp>
      <p:sp>
        <p:nvSpPr>
          <p:cNvPr id="10" name="Shape 7"/>
          <p:cNvSpPr/>
          <p:nvPr/>
        </p:nvSpPr>
        <p:spPr>
          <a:xfrm>
            <a:off x="4846320" y="1097280"/>
            <a:ext cx="1737360" cy="914400"/>
          </a:xfrm>
          <a:prstGeom prst="rect">
            <a:avLst/>
          </a:prstGeom>
          <a:solidFill>
            <a:srgbClr val="EEF5F3"/>
          </a:solidFill>
          <a:ln w="12700">
            <a:solidFill>
              <a:srgbClr val="EEF5F3"/>
            </a:solidFill>
            <a:prstDash val="solid"/>
          </a:ln>
        </p:spPr>
      </p:sp>
      <p:sp>
        <p:nvSpPr>
          <p:cNvPr id="11" name="Text 8"/>
          <p:cNvSpPr txBox="1"/>
          <p:nvPr/>
        </p:nvSpPr>
        <p:spPr>
          <a:xfrm>
            <a:off x="4937760" y="1170432"/>
            <a:ext cx="1554480" cy="45720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₹28,712 cr</a:t>
            </a:r>
            <a:endParaRPr lang="en-US" sz="2000" dirty="0"/>
          </a:p>
        </p:txBody>
      </p:sp>
      <p:sp>
        <p:nvSpPr>
          <p:cNvPr id="12" name="Text 9"/>
          <p:cNvSpPr txBox="1"/>
          <p:nvPr/>
        </p:nvSpPr>
        <p:spPr>
          <a:xfrm>
            <a:off x="4937760" y="1600200"/>
            <a:ext cx="1554480" cy="3657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ICICI Lombard GDPI, FY2026</a:t>
            </a:r>
            <a:endParaRPr lang="en-US" sz="1200" dirty="0"/>
          </a:p>
        </p:txBody>
      </p:sp>
      <p:sp>
        <p:nvSpPr>
          <p:cNvPr id="13" name="Shape 10"/>
          <p:cNvSpPr/>
          <p:nvPr/>
        </p:nvSpPr>
        <p:spPr>
          <a:xfrm>
            <a:off x="6675120" y="1097280"/>
            <a:ext cx="1737360" cy="914400"/>
          </a:xfrm>
          <a:prstGeom prst="rect">
            <a:avLst/>
          </a:prstGeom>
          <a:solidFill>
            <a:srgbClr val="EEF5F3"/>
          </a:solidFill>
          <a:ln w="12700">
            <a:solidFill>
              <a:srgbClr val="EEF5F3"/>
            </a:solidFill>
            <a:prstDash val="solid"/>
          </a:ln>
        </p:spPr>
      </p:sp>
      <p:sp>
        <p:nvSpPr>
          <p:cNvPr id="14" name="Text 11"/>
          <p:cNvSpPr txBox="1"/>
          <p:nvPr/>
        </p:nvSpPr>
        <p:spPr>
          <a:xfrm>
            <a:off x="6766560" y="1170432"/>
            <a:ext cx="1554480" cy="457200"/>
          </a:xfrm>
          <a:prstGeom prst="rect">
            <a:avLst/>
          </a:prstGeom>
          <a:noFill/>
          <a:ln/>
        </p:spPr>
        <p:txBody>
          <a:bodyPr wrap="square" lIns="0" tIns="0" rIns="0" bIns="0" rtlCol="0" anchor="ctr"/>
          <a:lstStyle/>
          <a:p>
            <a:pPr indent="0" marL="0">
              <a:buNone/>
            </a:pPr>
            <a:r>
              <a:rPr lang="en-US" sz="2000" b="1" dirty="0">
                <a:solidFill>
                  <a:srgbClr val="C0504D"/>
                </a:solidFill>
                <a:latin typeface="Cambria" pitchFamily="34" charset="0"/>
                <a:ea typeface="Cambria" pitchFamily="34" charset="-122"/>
                <a:cs typeface="Cambria" pitchFamily="34" charset="-120"/>
              </a:rPr>
              <a:t>119.3%</a:t>
            </a:r>
            <a:endParaRPr lang="en-US" sz="2000" dirty="0"/>
          </a:p>
        </p:txBody>
      </p:sp>
      <p:sp>
        <p:nvSpPr>
          <p:cNvPr id="15" name="Text 12"/>
          <p:cNvSpPr txBox="1"/>
          <p:nvPr/>
        </p:nvSpPr>
        <p:spPr>
          <a:xfrm>
            <a:off x="6766560" y="1600200"/>
            <a:ext cx="1554480" cy="3657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Industry combined ratio, 9M FY2026</a:t>
            </a:r>
            <a:endParaRPr lang="en-US" sz="1200" dirty="0"/>
          </a:p>
        </p:txBody>
      </p:sp>
      <p:sp>
        <p:nvSpPr>
          <p:cNvPr id="16" name="Shape 13"/>
          <p:cNvSpPr/>
          <p:nvPr/>
        </p:nvSpPr>
        <p:spPr>
          <a:xfrm>
            <a:off x="4846320" y="2194560"/>
            <a:ext cx="3566160" cy="2468880"/>
          </a:xfrm>
          <a:prstGeom prst="rect">
            <a:avLst/>
          </a:prstGeom>
          <a:solidFill>
            <a:srgbClr val="0F3D3E"/>
          </a:solidFill>
          <a:ln w="12700">
            <a:solidFill>
              <a:srgbClr val="0F3D3E"/>
            </a:solidFill>
            <a:prstDash val="solid"/>
          </a:ln>
        </p:spPr>
      </p:sp>
      <p:sp>
        <p:nvSpPr>
          <p:cNvPr id="17" name="Text 14"/>
          <p:cNvSpPr txBox="1"/>
          <p:nvPr/>
        </p:nvSpPr>
        <p:spPr>
          <a:xfrm>
            <a:off x="5029200" y="2286000"/>
            <a:ext cx="3200400" cy="274320"/>
          </a:xfrm>
          <a:prstGeom prst="rect">
            <a:avLst/>
          </a:prstGeom>
          <a:noFill/>
          <a:ln/>
        </p:spPr>
        <p:txBody>
          <a:bodyPr wrap="square" lIns="0" tIns="0" rIns="0" bIns="0" rtlCol="0" anchor="ctr"/>
          <a:lstStyle/>
          <a:p>
            <a:pPr indent="0" marL="0">
              <a:buNone/>
            </a:pPr>
            <a:r>
              <a:rPr lang="en-US" sz="1600" b="1" dirty="0">
                <a:solidFill>
                  <a:srgbClr val="E9A23B"/>
                </a:solidFill>
                <a:latin typeface="Cambria" pitchFamily="34" charset="0"/>
                <a:ea typeface="Cambria" pitchFamily="34" charset="-122"/>
                <a:cs typeface="Cambria" pitchFamily="34" charset="-120"/>
              </a:rPr>
              <a:t>Objective</a:t>
            </a:r>
            <a:endParaRPr lang="en-US" sz="1600" dirty="0"/>
          </a:p>
        </p:txBody>
      </p:sp>
      <p:sp>
        <p:nvSpPr>
          <p:cNvPr id="18" name="Text 15"/>
          <p:cNvSpPr txBox="1"/>
          <p:nvPr/>
        </p:nvSpPr>
        <p:spPr>
          <a:xfrm>
            <a:off x="5029200" y="2606040"/>
            <a:ext cx="3200400" cy="9144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Show how financial and risk analytics supports insurance decisions, using real data and stating what each analysis can and cannot support.</a:t>
            </a:r>
            <a:endParaRPr lang="en-US" sz="1300" dirty="0"/>
          </a:p>
        </p:txBody>
      </p:sp>
      <p:sp>
        <p:nvSpPr>
          <p:cNvPr id="19" name="Text 16"/>
          <p:cNvSpPr txBox="1"/>
          <p:nvPr/>
        </p:nvSpPr>
        <p:spPr>
          <a:xfrm>
            <a:off x="5029200" y="3520440"/>
            <a:ext cx="3200400" cy="228600"/>
          </a:xfrm>
          <a:prstGeom prst="rect">
            <a:avLst/>
          </a:prstGeom>
          <a:noFill/>
          <a:ln/>
        </p:spPr>
        <p:txBody>
          <a:bodyPr wrap="square" lIns="0" tIns="0" rIns="0" bIns="0" rtlCol="0" anchor="ctr"/>
          <a:lstStyle/>
          <a:p>
            <a:pPr indent="0" marL="0">
              <a:buNone/>
            </a:pPr>
            <a:r>
              <a:rPr lang="en-US" sz="1300" b="1" dirty="0">
                <a:solidFill>
                  <a:srgbClr val="E9A23B"/>
                </a:solidFill>
                <a:latin typeface="Calibri" pitchFamily="34" charset="0"/>
                <a:ea typeface="Calibri" pitchFamily="34" charset="-122"/>
                <a:cs typeface="Calibri" pitchFamily="34" charset="-120"/>
              </a:rPr>
              <a:t>Research questions</a:t>
            </a:r>
            <a:endParaRPr lang="en-US" sz="1300" dirty="0"/>
          </a:p>
        </p:txBody>
      </p:sp>
      <p:sp>
        <p:nvSpPr>
          <p:cNvPr id="20" name="Text 17"/>
          <p:cNvSpPr txBox="1"/>
          <p:nvPr/>
        </p:nvSpPr>
        <p:spPr>
          <a:xfrm>
            <a:off x="5029200" y="3749040"/>
            <a:ext cx="320040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Is profit earned or investment-led? Which stocks rewarded risk? Can claims be ranked? Can anomalies be screened?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400" b="1" dirty="0">
                <a:solidFill>
                  <a:srgbClr val="0F3D3E"/>
                </a:solidFill>
                <a:latin typeface="Cambria" pitchFamily="34" charset="0"/>
                <a:ea typeface="Cambria" pitchFamily="34" charset="-122"/>
                <a:cs typeface="Cambria" pitchFamily="34" charset="-120"/>
              </a:rPr>
              <a:t>Four datasets, each chosen for a specific question</a:t>
            </a:r>
            <a:endParaRPr lang="en-US" sz="24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Alex Abraham | 25121007 | Financial and Risk Analytics | CIA-4 Insurance</a:t>
            </a:r>
            <a:endParaRPr lang="en-US" sz="10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468880"/>
                <a:gridCol w="1645920"/>
                <a:gridCol w="2377440"/>
                <a:gridCol w="1737360"/>
              </a:tblGrid>
              <a:tr h="3200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Size / period</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Why selected</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Used for</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r>
              <a:tr h="566928">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ICICI Lombard statements (audited annual reports)</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FY2024 to FY2026</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Audited, comparable, shows underwriting vs investment profit</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Ratio and statement analysis</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r h="566928">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Monthly prices: ICICI Lombard, GIC Re, SBI Life, NIFTY 50</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104 monthly returns</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Covers general, life and reinsurance sub-sectors</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Beta, volatility, portfolios</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r h="566928">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freMTPL2freq French motor policies</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678,013 policies; 5.02% with claim</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Standard public benchmark with exposure and claim counts</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Claim-risk model, anomaly screens</a:t>
                      </a:r>
                      <a:endParaRPr lang="en-US" sz="1200" dirty="0">
                        <a:latin typeface="Calibri" charset="0"/>
                        <a:ea typeface="Calibri" charset="0"/>
                        <a:cs typeface="Calibri" charset="0"/>
                      </a:endParaRPr>
                    </a:p>
                  </a:txBody>
                  <a:tcPr marL="73152" marR="73152" marT="36576" marB="36576"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bl>
          </a:graphicData>
        </a:graphic>
      </p:graphicFrame>
      <p:sp>
        <p:nvSpPr>
          <p:cNvPr id="7" name="Shape 3"/>
          <p:cNvSpPr/>
          <p:nvPr/>
        </p:nvSpPr>
        <p:spPr>
          <a:xfrm>
            <a:off x="457200" y="3200400"/>
            <a:ext cx="1920240" cy="914400"/>
          </a:xfrm>
          <a:prstGeom prst="rect">
            <a:avLst/>
          </a:prstGeom>
          <a:solidFill>
            <a:srgbClr val="EEF5F3"/>
          </a:solidFill>
          <a:ln w="12700">
            <a:solidFill>
              <a:srgbClr val="EEF5F3"/>
            </a:solidFill>
            <a:prstDash val="solid"/>
          </a:ln>
        </p:spPr>
      </p:sp>
      <p:sp>
        <p:nvSpPr>
          <p:cNvPr id="8" name="Text 4"/>
          <p:cNvSpPr txBox="1"/>
          <p:nvPr/>
        </p:nvSpPr>
        <p:spPr>
          <a:xfrm>
            <a:off x="548640" y="3273552"/>
            <a:ext cx="1737360" cy="45720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36 checks</a:t>
            </a:r>
            <a:endParaRPr lang="en-US" sz="2000" dirty="0"/>
          </a:p>
        </p:txBody>
      </p:sp>
      <p:sp>
        <p:nvSpPr>
          <p:cNvPr id="9" name="Text 5"/>
          <p:cNvSpPr txBox="1"/>
          <p:nvPr/>
        </p:nvSpPr>
        <p:spPr>
          <a:xfrm>
            <a:off x="548640" y="3703320"/>
            <a:ext cx="1737360" cy="3657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Workbook validated against audited reports</a:t>
            </a:r>
            <a:endParaRPr lang="en-US" sz="1200" dirty="0"/>
          </a:p>
        </p:txBody>
      </p:sp>
      <p:sp>
        <p:nvSpPr>
          <p:cNvPr id="10" name="Shape 6"/>
          <p:cNvSpPr/>
          <p:nvPr/>
        </p:nvSpPr>
        <p:spPr>
          <a:xfrm>
            <a:off x="2514600" y="3200400"/>
            <a:ext cx="1920240" cy="914400"/>
          </a:xfrm>
          <a:prstGeom prst="rect">
            <a:avLst/>
          </a:prstGeom>
          <a:solidFill>
            <a:srgbClr val="EEF5F3"/>
          </a:solidFill>
          <a:ln w="12700">
            <a:solidFill>
              <a:srgbClr val="EEF5F3"/>
            </a:solidFill>
            <a:prstDash val="solid"/>
          </a:ln>
        </p:spPr>
      </p:sp>
      <p:sp>
        <p:nvSpPr>
          <p:cNvPr id="11" name="Text 7"/>
          <p:cNvSpPr txBox="1"/>
          <p:nvPr/>
        </p:nvSpPr>
        <p:spPr>
          <a:xfrm>
            <a:off x="2606040" y="3273552"/>
            <a:ext cx="1737360" cy="45720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60/20/20</a:t>
            </a:r>
            <a:endParaRPr lang="en-US" sz="2000" dirty="0"/>
          </a:p>
        </p:txBody>
      </p:sp>
      <p:sp>
        <p:nvSpPr>
          <p:cNvPr id="12" name="Text 8"/>
          <p:cNvSpPr txBox="1"/>
          <p:nvPr/>
        </p:nvSpPr>
        <p:spPr>
          <a:xfrm>
            <a:off x="2606040" y="3703320"/>
            <a:ext cx="1737360" cy="3657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Stratified train, validation, test split</a:t>
            </a:r>
            <a:endParaRPr lang="en-US" sz="1200" dirty="0"/>
          </a:p>
        </p:txBody>
      </p:sp>
      <p:sp>
        <p:nvSpPr>
          <p:cNvPr id="13" name="Shape 9"/>
          <p:cNvSpPr/>
          <p:nvPr/>
        </p:nvSpPr>
        <p:spPr>
          <a:xfrm>
            <a:off x="4572000" y="3200400"/>
            <a:ext cx="1920240" cy="914400"/>
          </a:xfrm>
          <a:prstGeom prst="rect">
            <a:avLst/>
          </a:prstGeom>
          <a:solidFill>
            <a:srgbClr val="EEF5F3"/>
          </a:solidFill>
          <a:ln w="12700">
            <a:solidFill>
              <a:srgbClr val="EEF5F3"/>
            </a:solidFill>
            <a:prstDash val="solid"/>
          </a:ln>
        </p:spPr>
      </p:sp>
      <p:sp>
        <p:nvSpPr>
          <p:cNvPr id="14" name="Text 10"/>
          <p:cNvSpPr txBox="1"/>
          <p:nvPr/>
        </p:nvSpPr>
        <p:spPr>
          <a:xfrm>
            <a:off x="4663440" y="3273552"/>
            <a:ext cx="1737360" cy="45720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1 test run</a:t>
            </a:r>
            <a:endParaRPr lang="en-US" sz="2000" dirty="0"/>
          </a:p>
        </p:txBody>
      </p:sp>
      <p:sp>
        <p:nvSpPr>
          <p:cNvPr id="15" name="Text 11"/>
          <p:cNvSpPr txBox="1"/>
          <p:nvPr/>
        </p:nvSpPr>
        <p:spPr>
          <a:xfrm>
            <a:off x="4663440" y="3703320"/>
            <a:ext cx="1737360" cy="3657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Test set scored once; no leakage</a:t>
            </a:r>
            <a:endParaRPr lang="en-US" sz="1200" dirty="0"/>
          </a:p>
        </p:txBody>
      </p:sp>
      <p:sp>
        <p:nvSpPr>
          <p:cNvPr id="16" name="Shape 12"/>
          <p:cNvSpPr/>
          <p:nvPr/>
        </p:nvSpPr>
        <p:spPr>
          <a:xfrm>
            <a:off x="6629400" y="3200400"/>
            <a:ext cx="2057400" cy="914400"/>
          </a:xfrm>
          <a:prstGeom prst="rect">
            <a:avLst/>
          </a:prstGeom>
          <a:solidFill>
            <a:srgbClr val="EEF5F3"/>
          </a:solidFill>
          <a:ln w="12700">
            <a:solidFill>
              <a:srgbClr val="EEF5F3"/>
            </a:solidFill>
            <a:prstDash val="solid"/>
          </a:ln>
        </p:spPr>
      </p:sp>
      <p:sp>
        <p:nvSpPr>
          <p:cNvPr id="17" name="Text 13"/>
          <p:cNvSpPr txBox="1"/>
          <p:nvPr/>
        </p:nvSpPr>
        <p:spPr>
          <a:xfrm>
            <a:off x="6720840" y="3273552"/>
            <a:ext cx="1874520" cy="457200"/>
          </a:xfrm>
          <a:prstGeom prst="rect">
            <a:avLst/>
          </a:prstGeom>
          <a:noFill/>
          <a:ln/>
        </p:spPr>
        <p:txBody>
          <a:bodyPr wrap="square" lIns="0" tIns="0" rIns="0" bIns="0" rtlCol="0" anchor="ctr"/>
          <a:lstStyle/>
          <a:p>
            <a:pPr indent="0" marL="0">
              <a:buNone/>
            </a:pPr>
            <a:r>
              <a:rPr lang="en-US" sz="2000" b="1" dirty="0">
                <a:solidFill>
                  <a:srgbClr val="C0504D"/>
                </a:solidFill>
                <a:latin typeface="Cambria" pitchFamily="34" charset="0"/>
                <a:ea typeface="Cambria" pitchFamily="34" charset="-122"/>
                <a:cs typeface="Cambria" pitchFamily="34" charset="-120"/>
              </a:rPr>
              <a:t>Not India</a:t>
            </a:r>
            <a:endParaRPr lang="en-US" sz="2000" dirty="0"/>
          </a:p>
        </p:txBody>
      </p:sp>
      <p:sp>
        <p:nvSpPr>
          <p:cNvPr id="18" name="Text 14"/>
          <p:cNvSpPr txBox="1"/>
          <p:nvPr/>
        </p:nvSpPr>
        <p:spPr>
          <a:xfrm>
            <a:off x="6720840" y="3703320"/>
            <a:ext cx="1874520" cy="3657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French data: no transfer to Indian portfolios</a:t>
            </a:r>
            <a:endParaRPr lang="en-US" sz="1200" dirty="0"/>
          </a:p>
        </p:txBody>
      </p:sp>
      <p:sp>
        <p:nvSpPr>
          <p:cNvPr id="19" name="Shape 15"/>
          <p:cNvSpPr/>
          <p:nvPr/>
        </p:nvSpPr>
        <p:spPr>
          <a:xfrm>
            <a:off x="457200" y="4251960"/>
            <a:ext cx="8229600" cy="548640"/>
          </a:xfrm>
          <a:prstGeom prst="rect">
            <a:avLst/>
          </a:prstGeom>
          <a:solidFill>
            <a:srgbClr val="0F3D3E"/>
          </a:solidFill>
          <a:ln w="12700">
            <a:solidFill>
              <a:srgbClr val="0F3D3E"/>
            </a:solidFill>
            <a:prstDash val="solid"/>
          </a:ln>
        </p:spPr>
      </p:sp>
      <p:sp>
        <p:nvSpPr>
          <p:cNvPr id="20" name="Text 16"/>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Errors fixed before analysis: wrong FY2024 operating ratio (16% to 11.2%), wrong CAPM formula, mismatched return counts.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400" b="1" dirty="0">
                <a:solidFill>
                  <a:srgbClr val="0F3D3E"/>
                </a:solidFill>
                <a:latin typeface="Cambria" pitchFamily="34" charset="0"/>
                <a:ea typeface="Cambria" pitchFamily="34" charset="-122"/>
                <a:cs typeface="Cambria" pitchFamily="34" charset="-120"/>
              </a:rPr>
              <a:t>Profit up 44% in two years, but not all operational</a:t>
            </a:r>
            <a:endParaRPr lang="en-US" sz="24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Alex Abraham | 25121007 | Financial and Risk Analytics | CIA-4 Insurance</a:t>
            </a:r>
            <a:endParaRPr lang="en-US" sz="10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4</a:t>
            </a:r>
            <a:endParaRPr lang="en-US" sz="1000" dirty="0"/>
          </a:p>
        </p:txBody>
      </p:sp>
      <p:graphicFrame>
        <p:nvGraphicFramePr>
          <p:cNvPr id="6" name="Chart 0" descr=""/>
          <p:cNvGraphicFramePr/>
          <p:nvPr/>
        </p:nvGraphicFramePr>
        <p:xfrm>
          <a:off x="457200" y="1097280"/>
          <a:ext cx="4023360" cy="30175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4754880" y="1097280"/>
            <a:ext cx="1874520" cy="960120"/>
          </a:xfrm>
          <a:prstGeom prst="rect">
            <a:avLst/>
          </a:prstGeom>
          <a:solidFill>
            <a:srgbClr val="EEF5F3"/>
          </a:solidFill>
          <a:ln w="12700">
            <a:solidFill>
              <a:srgbClr val="EEF5F3"/>
            </a:solidFill>
            <a:prstDash val="solid"/>
          </a:ln>
        </p:spPr>
      </p:sp>
      <p:sp>
        <p:nvSpPr>
          <p:cNvPr id="8" name="Text 4"/>
          <p:cNvSpPr txBox="1"/>
          <p:nvPr/>
        </p:nvSpPr>
        <p:spPr>
          <a:xfrm>
            <a:off x="4846320" y="1170432"/>
            <a:ext cx="1691640" cy="48006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+8.3% / +7.0%</a:t>
            </a:r>
            <a:endParaRPr lang="en-US" sz="2000" dirty="0"/>
          </a:p>
        </p:txBody>
      </p:sp>
      <p:sp>
        <p:nvSpPr>
          <p:cNvPr id="9" name="Text 5"/>
          <p:cNvSpPr txBox="1"/>
          <p:nvPr/>
        </p:nvSpPr>
        <p:spPr>
          <a:xfrm>
            <a:off x="4846320" y="1625346"/>
            <a:ext cx="1691640" cy="3840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GDPI growth, FY25 / FY26</a:t>
            </a:r>
            <a:endParaRPr lang="en-US" sz="1200" dirty="0"/>
          </a:p>
        </p:txBody>
      </p:sp>
      <p:sp>
        <p:nvSpPr>
          <p:cNvPr id="10" name="Shape 6"/>
          <p:cNvSpPr/>
          <p:nvPr/>
        </p:nvSpPr>
        <p:spPr>
          <a:xfrm>
            <a:off x="6766560" y="1097280"/>
            <a:ext cx="1920240" cy="960120"/>
          </a:xfrm>
          <a:prstGeom prst="rect">
            <a:avLst/>
          </a:prstGeom>
          <a:solidFill>
            <a:srgbClr val="EEF5F3"/>
          </a:solidFill>
          <a:ln w="12700">
            <a:solidFill>
              <a:srgbClr val="EEF5F3"/>
            </a:solidFill>
            <a:prstDash val="solid"/>
          </a:ln>
        </p:spPr>
      </p:sp>
      <p:sp>
        <p:nvSpPr>
          <p:cNvPr id="11" name="Text 7"/>
          <p:cNvSpPr txBox="1"/>
          <p:nvPr/>
        </p:nvSpPr>
        <p:spPr>
          <a:xfrm>
            <a:off x="6858000" y="1170432"/>
            <a:ext cx="1737360" cy="48006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7.74 → 9.65</a:t>
            </a:r>
            <a:endParaRPr lang="en-US" sz="2000" dirty="0"/>
          </a:p>
        </p:txBody>
      </p:sp>
      <p:sp>
        <p:nvSpPr>
          <p:cNvPr id="12" name="Text 8"/>
          <p:cNvSpPr txBox="1"/>
          <p:nvPr/>
        </p:nvSpPr>
        <p:spPr>
          <a:xfrm>
            <a:off x="6858000" y="1625346"/>
            <a:ext cx="1737360" cy="3840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PAT per ₹100 of GDPI (paise)</a:t>
            </a:r>
            <a:endParaRPr lang="en-US" sz="1200" dirty="0"/>
          </a:p>
        </p:txBody>
      </p:sp>
      <p:sp>
        <p:nvSpPr>
          <p:cNvPr id="13" name="Shape 9"/>
          <p:cNvSpPr/>
          <p:nvPr/>
        </p:nvSpPr>
        <p:spPr>
          <a:xfrm>
            <a:off x="4754880" y="2194560"/>
            <a:ext cx="1874520" cy="960120"/>
          </a:xfrm>
          <a:prstGeom prst="rect">
            <a:avLst/>
          </a:prstGeom>
          <a:solidFill>
            <a:srgbClr val="EEF5F3"/>
          </a:solidFill>
          <a:ln w="12700">
            <a:solidFill>
              <a:srgbClr val="EEF5F3"/>
            </a:solidFill>
            <a:prstDash val="solid"/>
          </a:ln>
        </p:spPr>
      </p:sp>
      <p:sp>
        <p:nvSpPr>
          <p:cNvPr id="14" name="Text 10"/>
          <p:cNvSpPr txBox="1"/>
          <p:nvPr/>
        </p:nvSpPr>
        <p:spPr>
          <a:xfrm>
            <a:off x="4846320" y="2267712"/>
            <a:ext cx="1691640" cy="480060"/>
          </a:xfrm>
          <a:prstGeom prst="rect">
            <a:avLst/>
          </a:prstGeom>
          <a:noFill/>
          <a:ln/>
        </p:spPr>
        <p:txBody>
          <a:bodyPr wrap="square" lIns="0" tIns="0" rIns="0" bIns="0" rtlCol="0" anchor="ctr"/>
          <a:lstStyle/>
          <a:p>
            <a:pPr indent="0" marL="0">
              <a:buNone/>
            </a:pPr>
            <a:r>
              <a:rPr lang="en-US" sz="2000" b="1" dirty="0">
                <a:solidFill>
                  <a:srgbClr val="C0504D"/>
                </a:solidFill>
                <a:latin typeface="Cambria" pitchFamily="34" charset="0"/>
                <a:ea typeface="Cambria" pitchFamily="34" charset="-122"/>
                <a:cs typeface="Cambria" pitchFamily="34" charset="-120"/>
              </a:rPr>
              <a:t>19.1% → 17.8%</a:t>
            </a:r>
            <a:endParaRPr lang="en-US" sz="2000" dirty="0"/>
          </a:p>
        </p:txBody>
      </p:sp>
      <p:sp>
        <p:nvSpPr>
          <p:cNvPr id="15" name="Text 11"/>
          <p:cNvSpPr txBox="1"/>
          <p:nvPr/>
        </p:nvSpPr>
        <p:spPr>
          <a:xfrm>
            <a:off x="4846320" y="2722626"/>
            <a:ext cx="1691640" cy="3840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Return on avg equity</a:t>
            </a:r>
            <a:endParaRPr lang="en-US" sz="1200" dirty="0"/>
          </a:p>
        </p:txBody>
      </p:sp>
      <p:sp>
        <p:nvSpPr>
          <p:cNvPr id="16" name="Shape 12"/>
          <p:cNvSpPr/>
          <p:nvPr/>
        </p:nvSpPr>
        <p:spPr>
          <a:xfrm>
            <a:off x="6766560" y="2194560"/>
            <a:ext cx="1920240" cy="960120"/>
          </a:xfrm>
          <a:prstGeom prst="rect">
            <a:avLst/>
          </a:prstGeom>
          <a:solidFill>
            <a:srgbClr val="EEF5F3"/>
          </a:solidFill>
          <a:ln w="12700">
            <a:solidFill>
              <a:srgbClr val="EEF5F3"/>
            </a:solidFill>
            <a:prstDash val="solid"/>
          </a:ln>
        </p:spPr>
      </p:sp>
      <p:sp>
        <p:nvSpPr>
          <p:cNvPr id="17" name="Text 13"/>
          <p:cNvSpPr txBox="1"/>
          <p:nvPr/>
        </p:nvSpPr>
        <p:spPr>
          <a:xfrm>
            <a:off x="6858000" y="2267712"/>
            <a:ext cx="1737360" cy="48006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+31.9%</a:t>
            </a:r>
            <a:endParaRPr lang="en-US" sz="2000" dirty="0"/>
          </a:p>
        </p:txBody>
      </p:sp>
      <p:sp>
        <p:nvSpPr>
          <p:cNvPr id="18" name="Text 14"/>
          <p:cNvSpPr txBox="1"/>
          <p:nvPr/>
        </p:nvSpPr>
        <p:spPr>
          <a:xfrm>
            <a:off x="6858000" y="2722626"/>
            <a:ext cx="1737360" cy="3840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Miscellaneous segment profit, FY26</a:t>
            </a:r>
            <a:endParaRPr lang="en-US" sz="1200" dirty="0"/>
          </a:p>
        </p:txBody>
      </p:sp>
      <p:sp>
        <p:nvSpPr>
          <p:cNvPr id="19" name="Text 15"/>
          <p:cNvSpPr txBox="1"/>
          <p:nvPr/>
        </p:nvSpPr>
        <p:spPr>
          <a:xfrm>
            <a:off x="4754880" y="3291840"/>
            <a:ext cx="393192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Fire fell 19.5%; Marine turned to a ₹73.62 cr loss. About 25% of FY25 PBT growth came from a ₹190.92 cr provision swing.</a:t>
            </a:r>
            <a:endParaRPr lang="en-US" sz="1300" dirty="0"/>
          </a:p>
        </p:txBody>
      </p:sp>
      <p:sp>
        <p:nvSpPr>
          <p:cNvPr id="20" name="Shape 16"/>
          <p:cNvSpPr/>
          <p:nvPr/>
        </p:nvSpPr>
        <p:spPr>
          <a:xfrm>
            <a:off x="457200" y="4251960"/>
            <a:ext cx="8229600" cy="548640"/>
          </a:xfrm>
          <a:prstGeom prst="rect">
            <a:avLst/>
          </a:prstGeom>
          <a:solidFill>
            <a:srgbClr val="0F3D3E"/>
          </a:solidFill>
          <a:ln w="12700">
            <a:solidFill>
              <a:srgbClr val="0F3D3E"/>
            </a:solidFill>
            <a:prstDash val="solid"/>
          </a:ln>
        </p:spPr>
      </p:sp>
      <p:sp>
        <p:nvSpPr>
          <p:cNvPr id="21" name="Text 17"/>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Use FY2026's 10.5% PAT growth, not FY2025's 30.7%, as the guide to underlying momentum.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400" b="1" dirty="0">
                <a:solidFill>
                  <a:srgbClr val="0F3D3E"/>
                </a:solidFill>
                <a:latin typeface="Cambria" pitchFamily="34" charset="0"/>
                <a:ea typeface="Cambria" pitchFamily="34" charset="-122"/>
                <a:cs typeface="Cambria" pitchFamily="34" charset="-120"/>
              </a:rPr>
              <a:t>Underwriting barely breaks even; cost drift is the cause</a:t>
            </a:r>
            <a:endParaRPr lang="en-US" sz="24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Alex Abraham | 25121007 | Financial and Risk Analytics | CIA-4 Insurance</a:t>
            </a:r>
            <a:endParaRPr lang="en-US" sz="10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5</a:t>
            </a:r>
            <a:endParaRPr lang="en-US" sz="1000" dirty="0"/>
          </a:p>
        </p:txBody>
      </p:sp>
      <p:graphicFrame>
        <p:nvGraphicFramePr>
          <p:cNvPr id="6" name="Chart 0" descr=""/>
          <p:cNvGraphicFramePr/>
          <p:nvPr/>
        </p:nvGraphicFramePr>
        <p:xfrm>
          <a:off x="457200" y="1097280"/>
          <a:ext cx="4480560" cy="30175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212080" y="1097280"/>
            <a:ext cx="1645920" cy="960120"/>
          </a:xfrm>
          <a:prstGeom prst="rect">
            <a:avLst/>
          </a:prstGeom>
          <a:solidFill>
            <a:srgbClr val="EEF5F3"/>
          </a:solidFill>
          <a:ln w="12700">
            <a:solidFill>
              <a:srgbClr val="EEF5F3"/>
            </a:solidFill>
            <a:prstDash val="solid"/>
          </a:ln>
        </p:spPr>
      </p:sp>
      <p:sp>
        <p:nvSpPr>
          <p:cNvPr id="8" name="Text 4"/>
          <p:cNvSpPr txBox="1"/>
          <p:nvPr/>
        </p:nvSpPr>
        <p:spPr>
          <a:xfrm>
            <a:off x="5303520" y="1170432"/>
            <a:ext cx="1463040" cy="480060"/>
          </a:xfrm>
          <a:prstGeom prst="rect">
            <a:avLst/>
          </a:prstGeom>
          <a:noFill/>
          <a:ln/>
        </p:spPr>
        <p:txBody>
          <a:bodyPr wrap="square" lIns="0" tIns="0" rIns="0" bIns="0" rtlCol="0" anchor="ctr"/>
          <a:lstStyle/>
          <a:p>
            <a:pPr indent="0" marL="0">
              <a:buNone/>
            </a:pPr>
            <a:r>
              <a:rPr lang="en-US" sz="2000" b="1" dirty="0">
                <a:solidFill>
                  <a:srgbClr val="C0504D"/>
                </a:solidFill>
                <a:latin typeface="Cambria" pitchFamily="34" charset="0"/>
                <a:ea typeface="Cambria" pitchFamily="34" charset="-122"/>
                <a:cs typeface="Cambria" pitchFamily="34" charset="-120"/>
              </a:rPr>
              <a:t>103.4%</a:t>
            </a:r>
            <a:endParaRPr lang="en-US" sz="2000" dirty="0"/>
          </a:p>
        </p:txBody>
      </p:sp>
      <p:sp>
        <p:nvSpPr>
          <p:cNvPr id="9" name="Text 5"/>
          <p:cNvSpPr txBox="1"/>
          <p:nvPr/>
        </p:nvSpPr>
        <p:spPr>
          <a:xfrm>
            <a:off x="5303520" y="1625346"/>
            <a:ext cx="1463040" cy="3840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Combined ratio FY26 (industry 119.3%)</a:t>
            </a:r>
            <a:endParaRPr lang="en-US" sz="1200" dirty="0"/>
          </a:p>
        </p:txBody>
      </p:sp>
      <p:sp>
        <p:nvSpPr>
          <p:cNvPr id="10" name="Shape 6"/>
          <p:cNvSpPr/>
          <p:nvPr/>
        </p:nvSpPr>
        <p:spPr>
          <a:xfrm>
            <a:off x="6995160" y="1097280"/>
            <a:ext cx="1691640" cy="960120"/>
          </a:xfrm>
          <a:prstGeom prst="rect">
            <a:avLst/>
          </a:prstGeom>
          <a:solidFill>
            <a:srgbClr val="EEF5F3"/>
          </a:solidFill>
          <a:ln w="12700">
            <a:solidFill>
              <a:srgbClr val="EEF5F3"/>
            </a:solidFill>
            <a:prstDash val="solid"/>
          </a:ln>
        </p:spPr>
      </p:sp>
      <p:sp>
        <p:nvSpPr>
          <p:cNvPr id="11" name="Text 7"/>
          <p:cNvSpPr txBox="1"/>
          <p:nvPr/>
        </p:nvSpPr>
        <p:spPr>
          <a:xfrm>
            <a:off x="7086600" y="1170432"/>
            <a:ext cx="1508760" cy="48006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2.67×</a:t>
            </a:r>
            <a:endParaRPr lang="en-US" sz="2000" dirty="0"/>
          </a:p>
        </p:txBody>
      </p:sp>
      <p:sp>
        <p:nvSpPr>
          <p:cNvPr id="12" name="Text 8"/>
          <p:cNvSpPr txBox="1"/>
          <p:nvPr/>
        </p:nvSpPr>
        <p:spPr>
          <a:xfrm>
            <a:off x="7086600" y="1625346"/>
            <a:ext cx="1508760" cy="3840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Solvency vs 1.50× minimum</a:t>
            </a:r>
            <a:endParaRPr lang="en-US" sz="1200" dirty="0"/>
          </a:p>
        </p:txBody>
      </p:sp>
      <p:sp>
        <p:nvSpPr>
          <p:cNvPr id="13" name="Shape 9"/>
          <p:cNvSpPr/>
          <p:nvPr/>
        </p:nvSpPr>
        <p:spPr>
          <a:xfrm>
            <a:off x="5212080" y="2194560"/>
            <a:ext cx="1645920" cy="960120"/>
          </a:xfrm>
          <a:prstGeom prst="rect">
            <a:avLst/>
          </a:prstGeom>
          <a:solidFill>
            <a:srgbClr val="EEF5F3"/>
          </a:solidFill>
          <a:ln w="12700">
            <a:solidFill>
              <a:srgbClr val="EEF5F3"/>
            </a:solidFill>
            <a:prstDash val="solid"/>
          </a:ln>
        </p:spPr>
      </p:sp>
      <p:sp>
        <p:nvSpPr>
          <p:cNvPr id="14" name="Text 10"/>
          <p:cNvSpPr txBox="1"/>
          <p:nvPr/>
        </p:nvSpPr>
        <p:spPr>
          <a:xfrm>
            <a:off x="5303520" y="2267712"/>
            <a:ext cx="1463040" cy="480060"/>
          </a:xfrm>
          <a:prstGeom prst="rect">
            <a:avLst/>
          </a:prstGeom>
          <a:noFill/>
          <a:ln/>
        </p:spPr>
        <p:txBody>
          <a:bodyPr wrap="square" lIns="0" tIns="0" rIns="0" bIns="0" rtlCol="0" anchor="ctr"/>
          <a:lstStyle/>
          <a:p>
            <a:pPr indent="0" marL="0">
              <a:buNone/>
            </a:pPr>
            <a:r>
              <a:rPr lang="en-US" sz="2000" b="1" dirty="0">
                <a:solidFill>
                  <a:srgbClr val="C0504D"/>
                </a:solidFill>
                <a:latin typeface="Cambria" pitchFamily="34" charset="0"/>
                <a:ea typeface="Cambria" pitchFamily="34" charset="-122"/>
                <a:cs typeface="Cambria" pitchFamily="34" charset="-120"/>
              </a:rPr>
              <a:t>-₹774 cr</a:t>
            </a:r>
            <a:endParaRPr lang="en-US" sz="2000" dirty="0"/>
          </a:p>
        </p:txBody>
      </p:sp>
      <p:sp>
        <p:nvSpPr>
          <p:cNvPr id="15" name="Text 11"/>
          <p:cNvSpPr txBox="1"/>
          <p:nvPr/>
        </p:nvSpPr>
        <p:spPr>
          <a:xfrm>
            <a:off x="5303520" y="2722626"/>
            <a:ext cx="1463040" cy="3840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Fair value change a/c (was +₹681 cr)</a:t>
            </a:r>
            <a:endParaRPr lang="en-US" sz="1200" dirty="0"/>
          </a:p>
        </p:txBody>
      </p:sp>
      <p:sp>
        <p:nvSpPr>
          <p:cNvPr id="16" name="Shape 12"/>
          <p:cNvSpPr/>
          <p:nvPr/>
        </p:nvSpPr>
        <p:spPr>
          <a:xfrm>
            <a:off x="6995160" y="2194560"/>
            <a:ext cx="1691640" cy="960120"/>
          </a:xfrm>
          <a:prstGeom prst="rect">
            <a:avLst/>
          </a:prstGeom>
          <a:solidFill>
            <a:srgbClr val="EEF5F3"/>
          </a:solidFill>
          <a:ln w="12700">
            <a:solidFill>
              <a:srgbClr val="EEF5F3"/>
            </a:solidFill>
            <a:prstDash val="solid"/>
          </a:ln>
        </p:spPr>
      </p:sp>
      <p:sp>
        <p:nvSpPr>
          <p:cNvPr id="17" name="Text 13"/>
          <p:cNvSpPr txBox="1"/>
          <p:nvPr/>
        </p:nvSpPr>
        <p:spPr>
          <a:xfrm>
            <a:off x="7086600" y="2267712"/>
            <a:ext cx="1508760" cy="48006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102.4%</a:t>
            </a:r>
            <a:endParaRPr lang="en-US" sz="2000" dirty="0"/>
          </a:p>
        </p:txBody>
      </p:sp>
      <p:sp>
        <p:nvSpPr>
          <p:cNvPr id="18" name="Text 14"/>
          <p:cNvSpPr txBox="1"/>
          <p:nvPr/>
        </p:nvSpPr>
        <p:spPr>
          <a:xfrm>
            <a:off x="7086600" y="2722626"/>
            <a:ext cx="1508760" cy="3840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Combined ratio, 'n' basis (102.6% in FY25)</a:t>
            </a:r>
            <a:endParaRPr lang="en-US" sz="1200" dirty="0"/>
          </a:p>
        </p:txBody>
      </p:sp>
      <p:sp>
        <p:nvSpPr>
          <p:cNvPr id="19" name="Text 15"/>
          <p:cNvSpPr txBox="1"/>
          <p:nvPr/>
        </p:nvSpPr>
        <p:spPr>
          <a:xfrm>
            <a:off x="5212080" y="3291840"/>
            <a:ext cx="347472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Piotroski-style score: 4 of 7 applicable criteria. Two criteria do not apply to insurers, so the label 'weak' is only indicative.</a:t>
            </a:r>
            <a:endParaRPr lang="en-US" sz="1300" dirty="0"/>
          </a:p>
        </p:txBody>
      </p:sp>
      <p:sp>
        <p:nvSpPr>
          <p:cNvPr id="20" name="Shape 16"/>
          <p:cNvSpPr/>
          <p:nvPr/>
        </p:nvSpPr>
        <p:spPr>
          <a:xfrm>
            <a:off x="457200" y="4251960"/>
            <a:ext cx="8229600" cy="548640"/>
          </a:xfrm>
          <a:prstGeom prst="rect">
            <a:avLst/>
          </a:prstGeom>
          <a:solidFill>
            <a:srgbClr val="0F3D3E"/>
          </a:solidFill>
          <a:ln w="12700">
            <a:solidFill>
              <a:srgbClr val="0F3D3E"/>
            </a:solidFill>
            <a:prstDash val="solid"/>
          </a:ln>
        </p:spPr>
      </p:sp>
      <p:sp>
        <p:nvSpPr>
          <p:cNvPr id="21" name="Text 17"/>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Profit is investment-led: ₹100 of premium costs about ₹103, so risk selection and cost control are the levers.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400" b="1" dirty="0">
                <a:solidFill>
                  <a:srgbClr val="0F3D3E"/>
                </a:solidFill>
                <a:latin typeface="Cambria" pitchFamily="34" charset="0"/>
                <a:ea typeface="Cambria" pitchFamily="34" charset="-122"/>
                <a:cs typeface="Cambria" pitchFamily="34" charset="-120"/>
              </a:rPr>
              <a:t>SBI Life and ICICI Lombard rewarded risk; GIC Re did not</a:t>
            </a:r>
            <a:endParaRPr lang="en-US" sz="24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Alex Abraham | 25121007 | Financial and Risk Analytics | CIA-4 Insurance</a:t>
            </a:r>
            <a:endParaRPr lang="en-US" sz="10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6</a:t>
            </a:r>
            <a:endParaRPr lang="en-US" sz="1000" dirty="0"/>
          </a:p>
        </p:txBody>
      </p:sp>
      <p:graphicFrame>
        <p:nvGraphicFramePr>
          <p:cNvPr id="6" name="Chart 0" descr=""/>
          <p:cNvGraphicFramePr/>
          <p:nvPr/>
        </p:nvGraphicFramePr>
        <p:xfrm>
          <a:off x="457200" y="1097280"/>
          <a:ext cx="420624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46320" y="1097280"/>
          <a:ext cx="3840480" cy="914400"/>
        </p:xfrm>
        <a:graphic>
          <a:graphicData uri="http://schemas.openxmlformats.org/drawingml/2006/table">
            <a:tbl>
              <a:tblPr/>
              <a:tblGrid>
                <a:gridCol w="1097280"/>
                <a:gridCol w="685800"/>
                <a:gridCol w="685800"/>
                <a:gridCol w="731520"/>
                <a:gridCol w="640080"/>
              </a:tblGrid>
              <a:tr h="32918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ICICI L.</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GIC Re</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SBI Life</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NIFTY</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r>
              <a:tr h="329184">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Return</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13.6%</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14.8%</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r h="329184">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Volatility</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b="1" dirty="0">
                          <a:solidFill>
                            <a:srgbClr val="C0504D"/>
                          </a:solidFill>
                          <a:latin typeface="Calibri" pitchFamily="34" charset="0"/>
                          <a:ea typeface="Calibri" pitchFamily="34" charset="-122"/>
                          <a:cs typeface="Calibri" pitchFamily="34" charset="-120"/>
                        </a:rPr>
                        <a:t>44.4%</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25.9%</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16.9%</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r h="329184">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Beta</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0.83</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1.21</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0.94</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r h="329184">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Max drawdown</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-32.9%</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b="1" dirty="0">
                          <a:solidFill>
                            <a:srgbClr val="C0504D"/>
                          </a:solidFill>
                          <a:latin typeface="Calibri" pitchFamily="34" charset="0"/>
                          <a:ea typeface="Calibri" pitchFamily="34" charset="-122"/>
                          <a:cs typeface="Calibri" pitchFamily="34" charset="-120"/>
                        </a:rPr>
                        <a:t>-73.8%</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-35.5%</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-29.3%</a:t>
                      </a:r>
                      <a:endParaRPr lang="en-US" sz="1200" dirty="0">
                        <a:latin typeface="Calibri" charset="0"/>
                        <a:ea typeface="Calibri" charset="0"/>
                        <a:cs typeface="Calibri" charset="0"/>
                      </a:endParaRPr>
                    </a:p>
                  </a:txBody>
                  <a:tcPr marL="45720" marR="45720"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bl>
          </a:graphicData>
        </a:graphic>
      </p:graphicFrame>
      <p:sp>
        <p:nvSpPr>
          <p:cNvPr id="8" name="Shape 3"/>
          <p:cNvSpPr/>
          <p:nvPr/>
        </p:nvSpPr>
        <p:spPr>
          <a:xfrm>
            <a:off x="4846320" y="2880360"/>
            <a:ext cx="3840480" cy="1234440"/>
          </a:xfrm>
          <a:prstGeom prst="rect">
            <a:avLst/>
          </a:prstGeom>
          <a:solidFill>
            <a:srgbClr val="EEF5F3"/>
          </a:solidFill>
          <a:ln w="12700">
            <a:solidFill>
              <a:srgbClr val="EEF5F3"/>
            </a:solidFill>
            <a:prstDash val="solid"/>
          </a:ln>
        </p:spPr>
      </p:sp>
      <p:sp>
        <p:nvSpPr>
          <p:cNvPr id="9" name="Text 4"/>
          <p:cNvSpPr txBox="1"/>
          <p:nvPr/>
        </p:nvSpPr>
        <p:spPr>
          <a:xfrm>
            <a:off x="4983480" y="2926080"/>
            <a:ext cx="3566160" cy="1143000"/>
          </a:xfrm>
          <a:prstGeom prst="rect">
            <a:avLst/>
          </a:prstGeom>
          <a:noFill/>
          <a:ln/>
        </p:spPr>
        <p:txBody>
          <a:bodyPr wrap="square" lIns="0" tIns="0" rIns="0" bIns="0" rtlCol="0" anchor="ctr"/>
          <a:lstStyle/>
          <a:p>
            <a:pPr indent="0" marL="0">
              <a:spcAft>
                <a:spcPts val="300"/>
              </a:spcAft>
              <a:buNone/>
            </a:pPr>
            <a:r>
              <a:rPr lang="en-US" sz="1300" b="1" dirty="0">
                <a:solidFill>
                  <a:srgbClr val="1A7F7A"/>
                </a:solidFill>
                <a:latin typeface="Calibri" pitchFamily="34" charset="0"/>
                <a:ea typeface="Calibri" pitchFamily="34" charset="-122"/>
                <a:cs typeface="Calibri" pitchFamily="34" charset="-120"/>
              </a:rPr>
              <a:t>Max-Sharpe portfolio</a:t>
            </a:r>
            <a:endParaRPr lang="en-US" sz="1300" dirty="0"/>
          </a:p>
          <a:p>
            <a:pPr indent="0" marL="0">
              <a:spcAft>
                <a:spcPts val="300"/>
              </a:spcAft>
              <a:buNone/>
            </a:pPr>
            <a:r>
              <a:rPr lang="en-US" sz="1300" dirty="0">
                <a:solidFill>
                  <a:srgbClr val="1F2933"/>
                </a:solidFill>
                <a:latin typeface="Calibri" pitchFamily="34" charset="0"/>
                <a:ea typeface="Calibri" pitchFamily="34" charset="-122"/>
                <a:cs typeface="Calibri" pitchFamily="34" charset="-120"/>
              </a:rPr>
              <a:t>50% ICICI Lombard, 50% SBI Life, 0% GIC Re</a:t>
            </a:r>
            <a:endParaRPr lang="en-US" sz="1300" dirty="0"/>
          </a:p>
          <a:p>
            <a:pPr indent="0" marL="0">
              <a:spcAft>
                <a:spcPts val="300"/>
              </a:spcAft>
              <a:buNone/>
            </a:pPr>
            <a:r>
              <a:rPr lang="en-US" sz="1300" dirty="0">
                <a:solidFill>
                  <a:srgbClr val="1F2933"/>
                </a:solidFill>
                <a:latin typeface="Calibri" pitchFamily="34" charset="0"/>
                <a:ea typeface="Calibri" pitchFamily="34" charset="-122"/>
                <a:cs typeface="Calibri" pitchFamily="34" charset="-120"/>
              </a:rPr>
              <a:t>Return 14.2%, risk 22.0%, Sharpe 0.372</a:t>
            </a:r>
            <a:endParaRPr lang="en-US" sz="1300" dirty="0"/>
          </a:p>
        </p:txBody>
      </p:sp>
      <p:sp>
        <p:nvSpPr>
          <p:cNvPr id="10" name="Shape 5"/>
          <p:cNvSpPr/>
          <p:nvPr/>
        </p:nvSpPr>
        <p:spPr>
          <a:xfrm>
            <a:off x="457200" y="4251960"/>
            <a:ext cx="8229600" cy="548640"/>
          </a:xfrm>
          <a:prstGeom prst="rect">
            <a:avLst/>
          </a:prstGeom>
          <a:solidFill>
            <a:srgbClr val="0F3D3E"/>
          </a:solidFill>
          <a:ln w="12700">
            <a:solidFill>
              <a:srgbClr val="0F3D3E"/>
            </a:solidFill>
            <a:prstDash val="solid"/>
          </a:ln>
        </p:spPr>
      </p:sp>
      <p:sp>
        <p:nvSpPr>
          <p:cNvPr id="11" name="Text 6"/>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Sub-sector choice matters, but weights are window-dependent: GIC Re returned 28.3% a year over the last 36 months.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400" b="1" dirty="0">
                <a:solidFill>
                  <a:srgbClr val="0F3D3E"/>
                </a:solidFill>
                <a:latin typeface="Cambria" pitchFamily="34" charset="0"/>
                <a:ea typeface="Cambria" pitchFamily="34" charset="-122"/>
                <a:cs typeface="Cambria" pitchFamily="34" charset="-120"/>
              </a:rPr>
              <a:t>Boosted model ranks claim risk for prioritised review</a:t>
            </a:r>
            <a:endParaRPr lang="en-US" sz="24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Alex Abraham | 25121007 | Financial and Risk Analytics | CIA-4 Insurance</a:t>
            </a:r>
            <a:endParaRPr lang="en-US" sz="10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graphicFrame>
        <p:nvGraphicFramePr>
          <p:cNvPr id="6" name="Chart 0" descr=""/>
          <p:cNvGraphicFramePr/>
          <p:nvPr/>
        </p:nvGraphicFramePr>
        <p:xfrm>
          <a:off x="457200" y="1097280"/>
          <a:ext cx="393192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0" y="1097280"/>
          <a:ext cx="4114800" cy="914400"/>
        </p:xfrm>
        <a:graphic>
          <a:graphicData uri="http://schemas.openxmlformats.org/drawingml/2006/table">
            <a:tbl>
              <a:tblPr/>
              <a:tblGrid>
                <a:gridCol w="2286000"/>
                <a:gridCol w="914400"/>
                <a:gridCol w="914400"/>
              </a:tblGrid>
              <a:tr h="31089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 (validation)</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AP</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r>
              <a:tr h="31089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0.595</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0.074</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r h="31089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0.646</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0.105</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r h="310896">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Gradient boosting (selected)</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b="1" dirty="0">
                          <a:solidFill>
                            <a:srgbClr val="1F2933"/>
                          </a:solidFill>
                          <a:latin typeface="Calibri" pitchFamily="34" charset="0"/>
                          <a:ea typeface="Calibri" pitchFamily="34" charset="-122"/>
                          <a:cs typeface="Calibri" pitchFamily="34" charset="-120"/>
                        </a:rPr>
                        <a:t>0.666</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c>
                  <a:txBody>
                    <a:bodyPr/>
                    <a:lstStyle/>
                    <a:p>
                      <a:pPr algn="ctr" indent="0" marL="0">
                        <a:buNone/>
                      </a:pPr>
                      <a:r>
                        <a:rPr lang="en-US" sz="1200" b="1" dirty="0">
                          <a:solidFill>
                            <a:srgbClr val="1F2933"/>
                          </a:solidFill>
                          <a:latin typeface="Calibri" pitchFamily="34" charset="0"/>
                          <a:ea typeface="Calibri" pitchFamily="34" charset="-122"/>
                          <a:cs typeface="Calibri" pitchFamily="34" charset="-120"/>
                        </a:rPr>
                        <a:t>0.124</a:t>
                      </a:r>
                      <a:endParaRPr lang="en-US" sz="1200" dirty="0">
                        <a:latin typeface="Calibri" charset="0"/>
                        <a:ea typeface="Calibri" charset="0"/>
                        <a:cs typeface="Calibri" charset="0"/>
                      </a:endParaRPr>
                    </a:p>
                  </a:txBody>
                  <a:tcPr marL="54864" marR="54864"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tcPr>
                </a:tc>
              </a:tr>
            </a:tbl>
          </a:graphicData>
        </a:graphic>
      </p:graphicFrame>
      <p:sp>
        <p:nvSpPr>
          <p:cNvPr id="8" name="Shape 3"/>
          <p:cNvSpPr/>
          <p:nvPr/>
        </p:nvSpPr>
        <p:spPr>
          <a:xfrm>
            <a:off x="4572000" y="2514600"/>
            <a:ext cx="1325880" cy="868680"/>
          </a:xfrm>
          <a:prstGeom prst="rect">
            <a:avLst/>
          </a:prstGeom>
          <a:solidFill>
            <a:srgbClr val="EEF5F3"/>
          </a:solidFill>
          <a:ln w="12700">
            <a:solidFill>
              <a:srgbClr val="EEF5F3"/>
            </a:solidFill>
            <a:prstDash val="solid"/>
          </a:ln>
        </p:spPr>
      </p:sp>
      <p:sp>
        <p:nvSpPr>
          <p:cNvPr id="9" name="Text 4"/>
          <p:cNvSpPr txBox="1"/>
          <p:nvPr/>
        </p:nvSpPr>
        <p:spPr>
          <a:xfrm>
            <a:off x="4663440" y="2587752"/>
            <a:ext cx="1143000" cy="43434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0.665</a:t>
            </a:r>
            <a:endParaRPr lang="en-US" sz="2000" dirty="0"/>
          </a:p>
        </p:txBody>
      </p:sp>
      <p:sp>
        <p:nvSpPr>
          <p:cNvPr id="10" name="Text 5"/>
          <p:cNvSpPr txBox="1"/>
          <p:nvPr/>
        </p:nvSpPr>
        <p:spPr>
          <a:xfrm>
            <a:off x="4663440" y="2992374"/>
            <a:ext cx="1143000" cy="34747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Test AUC</a:t>
            </a:r>
            <a:endParaRPr lang="en-US" sz="1200" dirty="0"/>
          </a:p>
        </p:txBody>
      </p:sp>
      <p:sp>
        <p:nvSpPr>
          <p:cNvPr id="11" name="Shape 6"/>
          <p:cNvSpPr/>
          <p:nvPr/>
        </p:nvSpPr>
        <p:spPr>
          <a:xfrm>
            <a:off x="5989320" y="2514600"/>
            <a:ext cx="1325880" cy="868680"/>
          </a:xfrm>
          <a:prstGeom prst="rect">
            <a:avLst/>
          </a:prstGeom>
          <a:solidFill>
            <a:srgbClr val="EEF5F3"/>
          </a:solidFill>
          <a:ln w="12700">
            <a:solidFill>
              <a:srgbClr val="EEF5F3"/>
            </a:solidFill>
            <a:prstDash val="solid"/>
          </a:ln>
        </p:spPr>
      </p:sp>
      <p:sp>
        <p:nvSpPr>
          <p:cNvPr id="12" name="Text 7"/>
          <p:cNvSpPr txBox="1"/>
          <p:nvPr/>
        </p:nvSpPr>
        <p:spPr>
          <a:xfrm>
            <a:off x="6080760" y="2587752"/>
            <a:ext cx="1143000" cy="43434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0.126</a:t>
            </a:r>
            <a:endParaRPr lang="en-US" sz="2000" dirty="0"/>
          </a:p>
        </p:txBody>
      </p:sp>
      <p:sp>
        <p:nvSpPr>
          <p:cNvPr id="13" name="Text 8"/>
          <p:cNvSpPr txBox="1"/>
          <p:nvPr/>
        </p:nvSpPr>
        <p:spPr>
          <a:xfrm>
            <a:off x="6080760" y="2992374"/>
            <a:ext cx="1143000" cy="34747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Test Average Precision</a:t>
            </a:r>
            <a:endParaRPr lang="en-US" sz="1200" dirty="0"/>
          </a:p>
        </p:txBody>
      </p:sp>
      <p:sp>
        <p:nvSpPr>
          <p:cNvPr id="14" name="Shape 9"/>
          <p:cNvSpPr/>
          <p:nvPr/>
        </p:nvSpPr>
        <p:spPr>
          <a:xfrm>
            <a:off x="7406640" y="2514600"/>
            <a:ext cx="1280160" cy="868680"/>
          </a:xfrm>
          <a:prstGeom prst="rect">
            <a:avLst/>
          </a:prstGeom>
          <a:solidFill>
            <a:srgbClr val="EEF5F3"/>
          </a:solidFill>
          <a:ln w="12700">
            <a:solidFill>
              <a:srgbClr val="EEF5F3"/>
            </a:solidFill>
            <a:prstDash val="solid"/>
          </a:ln>
        </p:spPr>
      </p:sp>
      <p:sp>
        <p:nvSpPr>
          <p:cNvPr id="15" name="Text 10"/>
          <p:cNvSpPr txBox="1"/>
          <p:nvPr/>
        </p:nvSpPr>
        <p:spPr>
          <a:xfrm>
            <a:off x="7498080" y="2587752"/>
            <a:ext cx="1097280" cy="434340"/>
          </a:xfrm>
          <a:prstGeom prst="rect">
            <a:avLst/>
          </a:prstGeom>
          <a:noFill/>
          <a:ln/>
        </p:spPr>
        <p:txBody>
          <a:bodyPr wrap="square" lIns="0" tIns="0" rIns="0" bIns="0" rtlCol="0" anchor="ctr"/>
          <a:lstStyle/>
          <a:p>
            <a:pPr indent="0" marL="0">
              <a:buNone/>
            </a:pPr>
            <a:r>
              <a:rPr lang="en-US" sz="2000" b="1" dirty="0">
                <a:solidFill>
                  <a:srgbClr val="1A7F7A"/>
                </a:solidFill>
                <a:latin typeface="Cambria" pitchFamily="34" charset="0"/>
                <a:ea typeface="Cambria" pitchFamily="34" charset="-122"/>
                <a:cs typeface="Cambria" pitchFamily="34" charset="-120"/>
              </a:rPr>
              <a:t>17.6%</a:t>
            </a:r>
            <a:endParaRPr lang="en-US" sz="2000" dirty="0"/>
          </a:p>
        </p:txBody>
      </p:sp>
      <p:sp>
        <p:nvSpPr>
          <p:cNvPr id="16" name="Text 11"/>
          <p:cNvSpPr txBox="1"/>
          <p:nvPr/>
        </p:nvSpPr>
        <p:spPr>
          <a:xfrm>
            <a:off x="7498080" y="2992374"/>
            <a:ext cx="1097280" cy="34747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High-band claim rate vs 3.6% low</a:t>
            </a:r>
            <a:endParaRPr lang="en-US" sz="1200" dirty="0"/>
          </a:p>
        </p:txBody>
      </p:sp>
      <p:sp>
        <p:nvSpPr>
          <p:cNvPr id="17" name="Text 12"/>
          <p:cNvSpPr txBox="1"/>
          <p:nvPr/>
        </p:nvSpPr>
        <p:spPr>
          <a:xfrm>
            <a:off x="4572000" y="3520440"/>
            <a:ext cx="411480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Poisson frequency model with exposure: D² 8.2%; 7,221 predicted vs 7,225 actual claims.</a:t>
            </a:r>
            <a:endParaRPr lang="en-US" sz="1300" dirty="0"/>
          </a:p>
        </p:txBody>
      </p:sp>
      <p:sp>
        <p:nvSpPr>
          <p:cNvPr id="18" name="Shape 13"/>
          <p:cNvSpPr/>
          <p:nvPr/>
        </p:nvSpPr>
        <p:spPr>
          <a:xfrm>
            <a:off x="457200" y="4251960"/>
            <a:ext cx="8229600" cy="548640"/>
          </a:xfrm>
          <a:prstGeom prst="rect">
            <a:avLst/>
          </a:prstGeom>
          <a:solidFill>
            <a:srgbClr val="0F3D3E"/>
          </a:solidFill>
          <a:ln w="12700">
            <a:solidFill>
              <a:srgbClr val="0F3D3E"/>
            </a:solidFill>
            <a:prstDash val="solid"/>
          </a:ln>
        </p:spPr>
      </p:sp>
      <p:sp>
        <p:nvSpPr>
          <p:cNvPr id="19" name="Text 14"/>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Use it to rank policies for underwriting review, never to decline automatically: about 3 in 4 claimants are not flagged.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400" b="1" dirty="0">
                <a:solidFill>
                  <a:srgbClr val="0F3D3E"/>
                </a:solidFill>
                <a:latin typeface="Cambria" pitchFamily="34" charset="0"/>
                <a:ea typeface="Cambria" pitchFamily="34" charset="-122"/>
                <a:cs typeface="Cambria" pitchFamily="34" charset="-120"/>
              </a:rPr>
              <a:t>Anomaly screens flag about 1% of records for review</a:t>
            </a:r>
            <a:endParaRPr lang="en-US" sz="24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Alex Abraham | 25121007 | Financial and Risk Analytics | CIA-4 Insurance</a:t>
            </a:r>
            <a:endParaRPr lang="en-US" sz="10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457200" y="1097280"/>
            <a:ext cx="3977640" cy="2194560"/>
          </a:xfrm>
          <a:prstGeom prst="rect">
            <a:avLst/>
          </a:prstGeom>
          <a:solidFill>
            <a:srgbClr val="EEF5F3"/>
          </a:solidFill>
          <a:ln w="12700">
            <a:solidFill>
              <a:srgbClr val="EEF5F3"/>
            </a:solidFill>
            <a:prstDash val="solid"/>
          </a:ln>
        </p:spPr>
      </p:sp>
      <p:sp>
        <p:nvSpPr>
          <p:cNvPr id="7" name="Text 4"/>
          <p:cNvSpPr txBox="1"/>
          <p:nvPr/>
        </p:nvSpPr>
        <p:spPr>
          <a:xfrm>
            <a:off x="640080" y="1170432"/>
            <a:ext cx="3657600" cy="320040"/>
          </a:xfrm>
          <a:prstGeom prst="rect">
            <a:avLst/>
          </a:prstGeom>
          <a:noFill/>
          <a:ln/>
        </p:spPr>
        <p:txBody>
          <a:bodyPr wrap="square" lIns="0" tIns="0" rIns="0" bIns="0" rtlCol="0" anchor="ctr"/>
          <a:lstStyle/>
          <a:p>
            <a:pPr indent="0" marL="0">
              <a:buNone/>
            </a:pPr>
            <a:r>
              <a:rPr lang="en-US" sz="1600" b="1" dirty="0">
                <a:solidFill>
                  <a:srgbClr val="1A7F7A"/>
                </a:solidFill>
                <a:latin typeface="Cambria" pitchFamily="34" charset="0"/>
                <a:ea typeface="Cambria" pitchFamily="34" charset="-122"/>
                <a:cs typeface="Cambria" pitchFamily="34" charset="-120"/>
              </a:rPr>
              <a:t>Screen A: prospective</a:t>
            </a:r>
            <a:endParaRPr lang="en-US" sz="1600" dirty="0"/>
          </a:p>
        </p:txBody>
      </p:sp>
      <p:sp>
        <p:nvSpPr>
          <p:cNvPr id="8" name="Text 5"/>
          <p:cNvSpPr txBox="1"/>
          <p:nvPr/>
        </p:nvSpPr>
        <p:spPr>
          <a:xfrm>
            <a:off x="640080" y="1508760"/>
            <a:ext cx="3657600" cy="365760"/>
          </a:xfrm>
          <a:prstGeom prst="rect">
            <a:avLst/>
          </a:prstGeom>
          <a:noFill/>
          <a:ln/>
        </p:spPr>
        <p:txBody>
          <a:bodyPr wrap="square" lIns="0" tIns="0" rIns="0" bIns="0" rtlCol="0" anchor="ctr"/>
          <a:lstStyle/>
          <a:p>
            <a:pPr indent="0" marL="0">
              <a:buNone/>
            </a:pPr>
            <a:r>
              <a:rPr lang="en-US" sz="2000" b="1" dirty="0">
                <a:solidFill>
                  <a:srgbClr val="0F3D3E"/>
                </a:solidFill>
                <a:latin typeface="Cambria" pitchFamily="34" charset="0"/>
                <a:ea typeface="Cambria" pitchFamily="34" charset="-122"/>
                <a:cs typeface="Cambria" pitchFamily="34" charset="-120"/>
              </a:rPr>
              <a:t>6,557 flagged (0.97%)</a:t>
            </a:r>
            <a:endParaRPr lang="en-US" sz="2000" dirty="0"/>
          </a:p>
        </p:txBody>
      </p:sp>
      <p:sp>
        <p:nvSpPr>
          <p:cNvPr id="9" name="Text 6"/>
          <p:cNvSpPr txBox="1"/>
          <p:nvPr/>
        </p:nvSpPr>
        <p:spPr>
          <a:xfrm>
            <a:off x="640080" y="1965960"/>
            <a:ext cx="3657600" cy="12801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Pre-outcome fields only; runs at underwriting</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Only 8.1% of flags had a claim</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High Bonus-Malus with powerful or older vehicles</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Seed overlap (Jaccard) 0.69</a:t>
            </a:r>
            <a:endParaRPr lang="en-US" sz="1300" dirty="0"/>
          </a:p>
        </p:txBody>
      </p:sp>
      <p:sp>
        <p:nvSpPr>
          <p:cNvPr id="10" name="Shape 7"/>
          <p:cNvSpPr/>
          <p:nvPr/>
        </p:nvSpPr>
        <p:spPr>
          <a:xfrm>
            <a:off x="4709160" y="1097280"/>
            <a:ext cx="3977640" cy="2194560"/>
          </a:xfrm>
          <a:prstGeom prst="rect">
            <a:avLst/>
          </a:prstGeom>
          <a:solidFill>
            <a:srgbClr val="EEF5F3"/>
          </a:solidFill>
          <a:ln w="12700">
            <a:solidFill>
              <a:srgbClr val="EEF5F3"/>
            </a:solidFill>
            <a:prstDash val="solid"/>
          </a:ln>
        </p:spPr>
      </p:sp>
      <p:sp>
        <p:nvSpPr>
          <p:cNvPr id="11" name="Text 8"/>
          <p:cNvSpPr txBox="1"/>
          <p:nvPr/>
        </p:nvSpPr>
        <p:spPr>
          <a:xfrm>
            <a:off x="4892040" y="1170432"/>
            <a:ext cx="3657600" cy="320040"/>
          </a:xfrm>
          <a:prstGeom prst="rect">
            <a:avLst/>
          </a:prstGeom>
          <a:noFill/>
          <a:ln/>
        </p:spPr>
        <p:txBody>
          <a:bodyPr wrap="square" lIns="0" tIns="0" rIns="0" bIns="0" rtlCol="0" anchor="ctr"/>
          <a:lstStyle/>
          <a:p>
            <a:pPr indent="0" marL="0">
              <a:buNone/>
            </a:pPr>
            <a:r>
              <a:rPr lang="en-US" sz="1600" b="1" dirty="0">
                <a:solidFill>
                  <a:srgbClr val="1A7F7A"/>
                </a:solidFill>
                <a:latin typeface="Cambria" pitchFamily="34" charset="0"/>
                <a:ea typeface="Cambria" pitchFamily="34" charset="-122"/>
                <a:cs typeface="Cambria" pitchFamily="34" charset="-120"/>
              </a:rPr>
              <a:t>Screen B: retrospective</a:t>
            </a:r>
            <a:endParaRPr lang="en-US" sz="1600" dirty="0"/>
          </a:p>
        </p:txBody>
      </p:sp>
      <p:sp>
        <p:nvSpPr>
          <p:cNvPr id="12" name="Text 9"/>
          <p:cNvSpPr txBox="1"/>
          <p:nvPr/>
        </p:nvSpPr>
        <p:spPr>
          <a:xfrm>
            <a:off x="4892040" y="1508760"/>
            <a:ext cx="3657600" cy="365760"/>
          </a:xfrm>
          <a:prstGeom prst="rect">
            <a:avLst/>
          </a:prstGeom>
          <a:noFill/>
          <a:ln/>
        </p:spPr>
        <p:txBody>
          <a:bodyPr wrap="square" lIns="0" tIns="0" rIns="0" bIns="0" rtlCol="0" anchor="ctr"/>
          <a:lstStyle/>
          <a:p>
            <a:pPr indent="0" marL="0">
              <a:buNone/>
            </a:pPr>
            <a:r>
              <a:rPr lang="en-US" sz="2000" b="1" dirty="0">
                <a:solidFill>
                  <a:srgbClr val="0F3D3E"/>
                </a:solidFill>
                <a:latin typeface="Cambria" pitchFamily="34" charset="0"/>
                <a:ea typeface="Cambria" pitchFamily="34" charset="-122"/>
                <a:cs typeface="Cambria" pitchFamily="34" charset="-120"/>
              </a:rPr>
              <a:t>6,672 flagged (0.98%)</a:t>
            </a:r>
            <a:endParaRPr lang="en-US" sz="2000" dirty="0"/>
          </a:p>
        </p:txBody>
      </p:sp>
      <p:sp>
        <p:nvSpPr>
          <p:cNvPr id="13" name="Text 10"/>
          <p:cNvSpPr txBox="1"/>
          <p:nvPr/>
        </p:nvSpPr>
        <p:spPr>
          <a:xfrm>
            <a:off x="4892040" y="1965960"/>
            <a:ext cx="3657600" cy="12801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Uses claims, exposure and claims surprise</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99.99% of flags had a claim; many claims in short cover</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Top case: 2 claims in 0.0027 years</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Seed overlap (Jaccard) 0.77</a:t>
            </a:r>
            <a:endParaRPr lang="en-US" sz="1300" dirty="0"/>
          </a:p>
        </p:txBody>
      </p:sp>
      <p:sp>
        <p:nvSpPr>
          <p:cNvPr id="14" name="Shape 11"/>
          <p:cNvSpPr/>
          <p:nvPr/>
        </p:nvSpPr>
        <p:spPr>
          <a:xfrm>
            <a:off x="457200" y="3520440"/>
            <a:ext cx="1828800" cy="502920"/>
          </a:xfrm>
          <a:prstGeom prst="roundRect">
            <a:avLst>
              <a:gd name="adj" fmla="val 18182"/>
            </a:avLst>
          </a:prstGeom>
          <a:solidFill>
            <a:srgbClr val="1A7F7A"/>
          </a:solidFill>
          <a:ln w="12700">
            <a:solidFill>
              <a:srgbClr val="FFFFFF"/>
            </a:solidFill>
            <a:prstDash val="solid"/>
          </a:ln>
        </p:spPr>
      </p:sp>
      <p:sp>
        <p:nvSpPr>
          <p:cNvPr id="15" name="Text 12"/>
          <p:cNvSpPr txBox="1"/>
          <p:nvPr/>
        </p:nvSpPr>
        <p:spPr>
          <a:xfrm>
            <a:off x="457200" y="3520440"/>
            <a:ext cx="18288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Flag</a:t>
            </a:r>
            <a:endParaRPr lang="en-US" sz="1300" dirty="0"/>
          </a:p>
        </p:txBody>
      </p:sp>
      <p:sp>
        <p:nvSpPr>
          <p:cNvPr id="16" name="Text 13"/>
          <p:cNvSpPr txBox="1"/>
          <p:nvPr/>
        </p:nvSpPr>
        <p:spPr>
          <a:xfrm>
            <a:off x="2286000" y="3520440"/>
            <a:ext cx="274320" cy="502920"/>
          </a:xfrm>
          <a:prstGeom prst="rect">
            <a:avLst/>
          </a:prstGeom>
          <a:noFill/>
          <a:ln/>
        </p:spPr>
        <p:txBody>
          <a:bodyPr wrap="square" lIns="0" tIns="0" rIns="0" bIns="0" rtlCol="0" anchor="ctr"/>
          <a:lstStyle/>
          <a:p>
            <a:pPr algn="ctr" indent="0" marL="0">
              <a:buNone/>
            </a:pPr>
            <a:r>
              <a:rPr lang="en-US" sz="2000" b="1" dirty="0">
                <a:solidFill>
                  <a:srgbClr val="5B6B73"/>
                </a:solidFill>
                <a:latin typeface="Calibri" pitchFamily="34" charset="0"/>
                <a:ea typeface="Calibri" pitchFamily="34" charset="-122"/>
                <a:cs typeface="Calibri" pitchFamily="34" charset="-120"/>
              </a:rPr>
              <a:t>›</a:t>
            </a:r>
            <a:endParaRPr lang="en-US" sz="2000" dirty="0"/>
          </a:p>
        </p:txBody>
      </p:sp>
      <p:sp>
        <p:nvSpPr>
          <p:cNvPr id="17" name="Shape 14"/>
          <p:cNvSpPr/>
          <p:nvPr/>
        </p:nvSpPr>
        <p:spPr>
          <a:xfrm>
            <a:off x="2560320" y="3520440"/>
            <a:ext cx="1828800" cy="502920"/>
          </a:xfrm>
          <a:prstGeom prst="roundRect">
            <a:avLst>
              <a:gd name="adj" fmla="val 18182"/>
            </a:avLst>
          </a:prstGeom>
          <a:solidFill>
            <a:srgbClr val="1A7F7A"/>
          </a:solidFill>
          <a:ln w="12700">
            <a:solidFill>
              <a:srgbClr val="FFFFFF"/>
            </a:solidFill>
            <a:prstDash val="solid"/>
          </a:ln>
        </p:spPr>
      </p:sp>
      <p:sp>
        <p:nvSpPr>
          <p:cNvPr id="18" name="Text 15"/>
          <p:cNvSpPr txBox="1"/>
          <p:nvPr/>
        </p:nvSpPr>
        <p:spPr>
          <a:xfrm>
            <a:off x="2560320" y="3520440"/>
            <a:ext cx="18288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Review queue</a:t>
            </a:r>
            <a:endParaRPr lang="en-US" sz="1300" dirty="0"/>
          </a:p>
        </p:txBody>
      </p:sp>
      <p:sp>
        <p:nvSpPr>
          <p:cNvPr id="19" name="Text 16"/>
          <p:cNvSpPr txBox="1"/>
          <p:nvPr/>
        </p:nvSpPr>
        <p:spPr>
          <a:xfrm>
            <a:off x="4389120" y="3520440"/>
            <a:ext cx="274320" cy="502920"/>
          </a:xfrm>
          <a:prstGeom prst="rect">
            <a:avLst/>
          </a:prstGeom>
          <a:noFill/>
          <a:ln/>
        </p:spPr>
        <p:txBody>
          <a:bodyPr wrap="square" lIns="0" tIns="0" rIns="0" bIns="0" rtlCol="0" anchor="ctr"/>
          <a:lstStyle/>
          <a:p>
            <a:pPr algn="ctr" indent="0" marL="0">
              <a:buNone/>
            </a:pPr>
            <a:r>
              <a:rPr lang="en-US" sz="2000" b="1" dirty="0">
                <a:solidFill>
                  <a:srgbClr val="5B6B73"/>
                </a:solidFill>
                <a:latin typeface="Calibri" pitchFamily="34" charset="0"/>
                <a:ea typeface="Calibri" pitchFamily="34" charset="-122"/>
                <a:cs typeface="Calibri" pitchFamily="34" charset="-120"/>
              </a:rPr>
              <a:t>›</a:t>
            </a:r>
            <a:endParaRPr lang="en-US" sz="2000" dirty="0"/>
          </a:p>
        </p:txBody>
      </p:sp>
      <p:sp>
        <p:nvSpPr>
          <p:cNvPr id="20" name="Shape 17"/>
          <p:cNvSpPr/>
          <p:nvPr/>
        </p:nvSpPr>
        <p:spPr>
          <a:xfrm>
            <a:off x="4663440" y="3520440"/>
            <a:ext cx="1828800" cy="502920"/>
          </a:xfrm>
          <a:prstGeom prst="roundRect">
            <a:avLst>
              <a:gd name="adj" fmla="val 18182"/>
            </a:avLst>
          </a:prstGeom>
          <a:solidFill>
            <a:srgbClr val="1A7F7A"/>
          </a:solidFill>
          <a:ln w="12700">
            <a:solidFill>
              <a:srgbClr val="FFFFFF"/>
            </a:solidFill>
            <a:prstDash val="solid"/>
          </a:ln>
        </p:spPr>
      </p:sp>
      <p:sp>
        <p:nvSpPr>
          <p:cNvPr id="21" name="Text 18"/>
          <p:cNvSpPr txBox="1"/>
          <p:nvPr/>
        </p:nvSpPr>
        <p:spPr>
          <a:xfrm>
            <a:off x="4663440" y="3520440"/>
            <a:ext cx="18288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Record outcome</a:t>
            </a:r>
            <a:endParaRPr lang="en-US" sz="1300" dirty="0"/>
          </a:p>
        </p:txBody>
      </p:sp>
      <p:sp>
        <p:nvSpPr>
          <p:cNvPr id="22" name="Text 19"/>
          <p:cNvSpPr txBox="1"/>
          <p:nvPr/>
        </p:nvSpPr>
        <p:spPr>
          <a:xfrm>
            <a:off x="6492240" y="3520440"/>
            <a:ext cx="274320" cy="502920"/>
          </a:xfrm>
          <a:prstGeom prst="rect">
            <a:avLst/>
          </a:prstGeom>
          <a:noFill/>
          <a:ln/>
        </p:spPr>
        <p:txBody>
          <a:bodyPr wrap="square" lIns="0" tIns="0" rIns="0" bIns="0" rtlCol="0" anchor="ctr"/>
          <a:lstStyle/>
          <a:p>
            <a:pPr algn="ctr" indent="0" marL="0">
              <a:buNone/>
            </a:pPr>
            <a:r>
              <a:rPr lang="en-US" sz="2000" b="1" dirty="0">
                <a:solidFill>
                  <a:srgbClr val="5B6B73"/>
                </a:solidFill>
                <a:latin typeface="Calibri" pitchFamily="34" charset="0"/>
                <a:ea typeface="Calibri" pitchFamily="34" charset="-122"/>
                <a:cs typeface="Calibri" pitchFamily="34" charset="-120"/>
              </a:rPr>
              <a:t>›</a:t>
            </a:r>
            <a:endParaRPr lang="en-US" sz="2000" dirty="0"/>
          </a:p>
        </p:txBody>
      </p:sp>
      <p:sp>
        <p:nvSpPr>
          <p:cNvPr id="23" name="Shape 20"/>
          <p:cNvSpPr/>
          <p:nvPr/>
        </p:nvSpPr>
        <p:spPr>
          <a:xfrm>
            <a:off x="6766560" y="3520440"/>
            <a:ext cx="1828800" cy="502920"/>
          </a:xfrm>
          <a:prstGeom prst="roundRect">
            <a:avLst>
              <a:gd name="adj" fmla="val 18182"/>
            </a:avLst>
          </a:prstGeom>
          <a:solidFill>
            <a:srgbClr val="E9A23B"/>
          </a:solidFill>
          <a:ln w="12700">
            <a:solidFill>
              <a:srgbClr val="FFFFFF"/>
            </a:solidFill>
            <a:prstDash val="solid"/>
          </a:ln>
        </p:spPr>
      </p:sp>
      <p:sp>
        <p:nvSpPr>
          <p:cNvPr id="24" name="Text 21"/>
          <p:cNvSpPr txBox="1"/>
          <p:nvPr/>
        </p:nvSpPr>
        <p:spPr>
          <a:xfrm>
            <a:off x="6766560" y="3520440"/>
            <a:ext cx="1828800" cy="502920"/>
          </a:xfrm>
          <a:prstGeom prst="rect">
            <a:avLst/>
          </a:prstGeom>
          <a:noFill/>
          <a:ln/>
        </p:spPr>
        <p:txBody>
          <a:bodyPr wrap="square" lIns="0" tIns="0" rIns="0" bIns="0" rtlCol="0" anchor="ctr"/>
          <a:lstStyle/>
          <a:p>
            <a:pPr algn="ctr" indent="0" marL="0">
              <a:buNone/>
            </a:pPr>
            <a:r>
              <a:rPr lang="en-US" sz="1300" b="1" dirty="0">
                <a:solidFill>
                  <a:srgbClr val="0F3D3E"/>
                </a:solidFill>
                <a:latin typeface="Calibri" pitchFamily="34" charset="0"/>
                <a:ea typeface="Calibri" pitchFamily="34" charset="-122"/>
                <a:cs typeface="Calibri" pitchFamily="34" charset="-120"/>
              </a:rPr>
              <a:t>Measure precision</a:t>
            </a:r>
            <a:endParaRPr lang="en-US" sz="1300" dirty="0"/>
          </a:p>
        </p:txBody>
      </p:sp>
      <p:sp>
        <p:nvSpPr>
          <p:cNvPr id="25" name="Shape 22"/>
          <p:cNvSpPr/>
          <p:nvPr/>
        </p:nvSpPr>
        <p:spPr>
          <a:xfrm>
            <a:off x="457200" y="4251960"/>
            <a:ext cx="8229600" cy="548640"/>
          </a:xfrm>
          <a:prstGeom prst="rect">
            <a:avLst/>
          </a:prstGeom>
          <a:solidFill>
            <a:srgbClr val="0F3D3E"/>
          </a:solidFill>
          <a:ln w="12700">
            <a:solidFill>
              <a:srgbClr val="0F3D3E"/>
            </a:solidFill>
            <a:prstDash val="solid"/>
          </a:ln>
        </p:spPr>
      </p:sp>
      <p:sp>
        <p:nvSpPr>
          <p:cNvPr id="26" name="Text 23"/>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flag means statistically unusual, not fraudulent. No fraud labels exist, so outcomes must be logged to measure value.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400" b="1" dirty="0">
                <a:solidFill>
                  <a:srgbClr val="0F3D3E"/>
                </a:solidFill>
                <a:latin typeface="Cambria" pitchFamily="34" charset="0"/>
                <a:ea typeface="Cambria" pitchFamily="34" charset="-122"/>
                <a:cs typeface="Cambria" pitchFamily="34" charset="-120"/>
              </a:rPr>
              <a:t>Analytics maturity: GenAI is a future step, not yet used</a:t>
            </a:r>
            <a:endParaRPr lang="en-US" sz="24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rgbClr val="5B6B73"/>
                </a:solidFill>
                <a:latin typeface="Calibri" pitchFamily="34" charset="0"/>
                <a:ea typeface="Calibri" pitchFamily="34" charset="-122"/>
                <a:cs typeface="Calibri" pitchFamily="34" charset="-120"/>
              </a:rPr>
              <a:t>Alex Abraham | 25121007 | Financial and Risk Analytics | CIA-4 Insurance</a:t>
            </a:r>
            <a:endParaRPr lang="en-US" sz="10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457200" y="1097280"/>
            <a:ext cx="1920240" cy="1737360"/>
          </a:xfrm>
          <a:prstGeom prst="rect">
            <a:avLst/>
          </a:prstGeom>
          <a:solidFill>
            <a:srgbClr val="EEF5F3"/>
          </a:solidFill>
          <a:ln w="12700">
            <a:solidFill>
              <a:srgbClr val="EEF5F3"/>
            </a:solidFill>
            <a:prstDash val="solid"/>
          </a:ln>
        </p:spPr>
      </p:sp>
      <p:sp>
        <p:nvSpPr>
          <p:cNvPr id="7" name="Text 4"/>
          <p:cNvSpPr txBox="1"/>
          <p:nvPr/>
        </p:nvSpPr>
        <p:spPr>
          <a:xfrm>
            <a:off x="566928" y="1170432"/>
            <a:ext cx="1700784" cy="365760"/>
          </a:xfrm>
          <a:prstGeom prst="rect">
            <a:avLst/>
          </a:prstGeom>
          <a:noFill/>
          <a:ln/>
        </p:spPr>
        <p:txBody>
          <a:bodyPr wrap="square" lIns="0" tIns="0" rIns="0" bIns="0" rtlCol="0" anchor="ctr"/>
          <a:lstStyle/>
          <a:p>
            <a:pPr indent="0" marL="0">
              <a:buNone/>
            </a:pPr>
            <a:r>
              <a:rPr lang="en-US" sz="1500" b="1" dirty="0">
                <a:solidFill>
                  <a:srgbClr val="0F3D3E"/>
                </a:solidFill>
                <a:latin typeface="Cambria" pitchFamily="34" charset="0"/>
                <a:ea typeface="Cambria" pitchFamily="34" charset="-122"/>
                <a:cs typeface="Cambria" pitchFamily="34" charset="-120"/>
              </a:rPr>
              <a:t>Descriptive</a:t>
            </a:r>
            <a:endParaRPr lang="en-US" sz="1500" dirty="0"/>
          </a:p>
        </p:txBody>
      </p:sp>
      <p:sp>
        <p:nvSpPr>
          <p:cNvPr id="8" name="Text 5"/>
          <p:cNvSpPr txBox="1"/>
          <p:nvPr/>
        </p:nvSpPr>
        <p:spPr>
          <a:xfrm>
            <a:off x="566928" y="1554480"/>
            <a:ext cx="1700784" cy="868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Ratios, trends, beta, volatility, Sharpe</a:t>
            </a:r>
            <a:endParaRPr lang="en-US" sz="1300" dirty="0"/>
          </a:p>
        </p:txBody>
      </p:sp>
      <p:sp>
        <p:nvSpPr>
          <p:cNvPr id="9" name="Shape 6"/>
          <p:cNvSpPr/>
          <p:nvPr/>
        </p:nvSpPr>
        <p:spPr>
          <a:xfrm>
            <a:off x="566928" y="2377440"/>
            <a:ext cx="1700784" cy="320040"/>
          </a:xfrm>
          <a:prstGeom prst="roundRect">
            <a:avLst>
              <a:gd name="adj" fmla="val 22857"/>
            </a:avLst>
          </a:prstGeom>
          <a:solidFill>
            <a:srgbClr val="1A7F7A"/>
          </a:solidFill>
          <a:ln w="12700">
            <a:solidFill>
              <a:srgbClr val="1A7F7A"/>
            </a:solidFill>
            <a:prstDash val="solid"/>
          </a:ln>
        </p:spPr>
      </p:sp>
      <p:sp>
        <p:nvSpPr>
          <p:cNvPr id="10" name="Text 7"/>
          <p:cNvSpPr txBox="1"/>
          <p:nvPr/>
        </p:nvSpPr>
        <p:spPr>
          <a:xfrm>
            <a:off x="566928" y="2377440"/>
            <a:ext cx="1700784"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11" name="Shape 8"/>
          <p:cNvSpPr/>
          <p:nvPr/>
        </p:nvSpPr>
        <p:spPr>
          <a:xfrm>
            <a:off x="2560320" y="1097280"/>
            <a:ext cx="1920240" cy="1737360"/>
          </a:xfrm>
          <a:prstGeom prst="rect">
            <a:avLst/>
          </a:prstGeom>
          <a:solidFill>
            <a:srgbClr val="EEF5F3"/>
          </a:solidFill>
          <a:ln w="12700">
            <a:solidFill>
              <a:srgbClr val="EEF5F3"/>
            </a:solidFill>
            <a:prstDash val="solid"/>
          </a:ln>
        </p:spPr>
      </p:sp>
      <p:sp>
        <p:nvSpPr>
          <p:cNvPr id="12" name="Text 9"/>
          <p:cNvSpPr txBox="1"/>
          <p:nvPr/>
        </p:nvSpPr>
        <p:spPr>
          <a:xfrm>
            <a:off x="2670048" y="1170432"/>
            <a:ext cx="1700784" cy="365760"/>
          </a:xfrm>
          <a:prstGeom prst="rect">
            <a:avLst/>
          </a:prstGeom>
          <a:noFill/>
          <a:ln/>
        </p:spPr>
        <p:txBody>
          <a:bodyPr wrap="square" lIns="0" tIns="0" rIns="0" bIns="0" rtlCol="0" anchor="ctr"/>
          <a:lstStyle/>
          <a:p>
            <a:pPr indent="0" marL="0">
              <a:buNone/>
            </a:pPr>
            <a:r>
              <a:rPr lang="en-US" sz="1500" b="1" dirty="0">
                <a:solidFill>
                  <a:srgbClr val="0F3D3E"/>
                </a:solidFill>
                <a:latin typeface="Cambria" pitchFamily="34" charset="0"/>
                <a:ea typeface="Cambria" pitchFamily="34" charset="-122"/>
                <a:cs typeface="Cambria" pitchFamily="34" charset="-120"/>
              </a:rPr>
              <a:t>Predictive ML</a:t>
            </a:r>
            <a:endParaRPr lang="en-US" sz="1500" dirty="0"/>
          </a:p>
        </p:txBody>
      </p:sp>
      <p:sp>
        <p:nvSpPr>
          <p:cNvPr id="13" name="Text 10"/>
          <p:cNvSpPr txBox="1"/>
          <p:nvPr/>
        </p:nvSpPr>
        <p:spPr>
          <a:xfrm>
            <a:off x="2670048" y="1554480"/>
            <a:ext cx="1700784" cy="868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Gradient boosting claim model, Poisson frequency model</a:t>
            </a:r>
            <a:endParaRPr lang="en-US" sz="1300" dirty="0"/>
          </a:p>
        </p:txBody>
      </p:sp>
      <p:sp>
        <p:nvSpPr>
          <p:cNvPr id="14" name="Shape 11"/>
          <p:cNvSpPr/>
          <p:nvPr/>
        </p:nvSpPr>
        <p:spPr>
          <a:xfrm>
            <a:off x="2670048" y="2377440"/>
            <a:ext cx="1700784" cy="320040"/>
          </a:xfrm>
          <a:prstGeom prst="roundRect">
            <a:avLst>
              <a:gd name="adj" fmla="val 22857"/>
            </a:avLst>
          </a:prstGeom>
          <a:solidFill>
            <a:srgbClr val="1A7F7A"/>
          </a:solidFill>
          <a:ln w="12700">
            <a:solidFill>
              <a:srgbClr val="1A7F7A"/>
            </a:solidFill>
            <a:prstDash val="solid"/>
          </a:ln>
        </p:spPr>
      </p:sp>
      <p:sp>
        <p:nvSpPr>
          <p:cNvPr id="15" name="Text 12"/>
          <p:cNvSpPr txBox="1"/>
          <p:nvPr/>
        </p:nvSpPr>
        <p:spPr>
          <a:xfrm>
            <a:off x="2670048" y="2377440"/>
            <a:ext cx="1700784"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16" name="Shape 13"/>
          <p:cNvSpPr/>
          <p:nvPr/>
        </p:nvSpPr>
        <p:spPr>
          <a:xfrm>
            <a:off x="4663440" y="1097280"/>
            <a:ext cx="1920240" cy="1737360"/>
          </a:xfrm>
          <a:prstGeom prst="rect">
            <a:avLst/>
          </a:prstGeom>
          <a:solidFill>
            <a:srgbClr val="EEF5F3"/>
          </a:solidFill>
          <a:ln w="12700">
            <a:solidFill>
              <a:srgbClr val="EEF5F3"/>
            </a:solidFill>
            <a:prstDash val="solid"/>
          </a:ln>
        </p:spPr>
      </p:sp>
      <p:sp>
        <p:nvSpPr>
          <p:cNvPr id="17" name="Text 14"/>
          <p:cNvSpPr txBox="1"/>
          <p:nvPr/>
        </p:nvSpPr>
        <p:spPr>
          <a:xfrm>
            <a:off x="4773168" y="1170432"/>
            <a:ext cx="1700784" cy="365760"/>
          </a:xfrm>
          <a:prstGeom prst="rect">
            <a:avLst/>
          </a:prstGeom>
          <a:noFill/>
          <a:ln/>
        </p:spPr>
        <p:txBody>
          <a:bodyPr wrap="square" lIns="0" tIns="0" rIns="0" bIns="0" rtlCol="0" anchor="ctr"/>
          <a:lstStyle/>
          <a:p>
            <a:pPr indent="0" marL="0">
              <a:buNone/>
            </a:pPr>
            <a:r>
              <a:rPr lang="en-US" sz="1500" b="1" dirty="0">
                <a:solidFill>
                  <a:srgbClr val="0F3D3E"/>
                </a:solidFill>
                <a:latin typeface="Cambria" pitchFamily="34" charset="0"/>
                <a:ea typeface="Cambria" pitchFamily="34" charset="-122"/>
                <a:cs typeface="Cambria" pitchFamily="34" charset="-120"/>
              </a:rPr>
              <a:t>Anomaly detection</a:t>
            </a:r>
            <a:endParaRPr lang="en-US" sz="1500" dirty="0"/>
          </a:p>
        </p:txBody>
      </p:sp>
      <p:sp>
        <p:nvSpPr>
          <p:cNvPr id="18" name="Text 15"/>
          <p:cNvSpPr txBox="1"/>
          <p:nvPr/>
        </p:nvSpPr>
        <p:spPr>
          <a:xfrm>
            <a:off x="4773168" y="1554480"/>
            <a:ext cx="1700784" cy="868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Two Isolation Forest screens, no labels needed</a:t>
            </a:r>
            <a:endParaRPr lang="en-US" sz="1300" dirty="0"/>
          </a:p>
        </p:txBody>
      </p:sp>
      <p:sp>
        <p:nvSpPr>
          <p:cNvPr id="19" name="Shape 16"/>
          <p:cNvSpPr/>
          <p:nvPr/>
        </p:nvSpPr>
        <p:spPr>
          <a:xfrm>
            <a:off x="4773168" y="2377440"/>
            <a:ext cx="1700784" cy="320040"/>
          </a:xfrm>
          <a:prstGeom prst="roundRect">
            <a:avLst>
              <a:gd name="adj" fmla="val 22857"/>
            </a:avLst>
          </a:prstGeom>
          <a:solidFill>
            <a:srgbClr val="1A7F7A"/>
          </a:solidFill>
          <a:ln w="12700">
            <a:solidFill>
              <a:srgbClr val="1A7F7A"/>
            </a:solidFill>
            <a:prstDash val="solid"/>
          </a:ln>
        </p:spPr>
      </p:sp>
      <p:sp>
        <p:nvSpPr>
          <p:cNvPr id="20" name="Text 17"/>
          <p:cNvSpPr txBox="1"/>
          <p:nvPr/>
        </p:nvSpPr>
        <p:spPr>
          <a:xfrm>
            <a:off x="4773168" y="2377440"/>
            <a:ext cx="1700784"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21" name="Shape 18"/>
          <p:cNvSpPr/>
          <p:nvPr/>
        </p:nvSpPr>
        <p:spPr>
          <a:xfrm>
            <a:off x="6766560" y="1097280"/>
            <a:ext cx="1920240" cy="1737360"/>
          </a:xfrm>
          <a:prstGeom prst="rect">
            <a:avLst/>
          </a:prstGeom>
          <a:solidFill>
            <a:srgbClr val="EEF5F3"/>
          </a:solidFill>
          <a:ln w="12700">
            <a:solidFill>
              <a:srgbClr val="EEF5F3"/>
            </a:solidFill>
            <a:prstDash val="solid"/>
          </a:ln>
        </p:spPr>
      </p:sp>
      <p:sp>
        <p:nvSpPr>
          <p:cNvPr id="22" name="Text 19"/>
          <p:cNvSpPr txBox="1"/>
          <p:nvPr/>
        </p:nvSpPr>
        <p:spPr>
          <a:xfrm>
            <a:off x="6876288" y="1170432"/>
            <a:ext cx="1700784" cy="365760"/>
          </a:xfrm>
          <a:prstGeom prst="rect">
            <a:avLst/>
          </a:prstGeom>
          <a:noFill/>
          <a:ln/>
        </p:spPr>
        <p:txBody>
          <a:bodyPr wrap="square" lIns="0" tIns="0" rIns="0" bIns="0" rtlCol="0" anchor="ctr"/>
          <a:lstStyle/>
          <a:p>
            <a:pPr indent="0" marL="0">
              <a:buNone/>
            </a:pPr>
            <a:r>
              <a:rPr lang="en-US" sz="1500" b="1" dirty="0">
                <a:solidFill>
                  <a:srgbClr val="0F3D3E"/>
                </a:solidFill>
                <a:latin typeface="Cambria" pitchFamily="34" charset="0"/>
                <a:ea typeface="Cambria" pitchFamily="34" charset="-122"/>
                <a:cs typeface="Cambria" pitchFamily="34" charset="-120"/>
              </a:rPr>
              <a:t>Generative AI</a:t>
            </a:r>
            <a:endParaRPr lang="en-US" sz="1500" dirty="0"/>
          </a:p>
        </p:txBody>
      </p:sp>
      <p:sp>
        <p:nvSpPr>
          <p:cNvPr id="23" name="Text 20"/>
          <p:cNvSpPr txBox="1"/>
          <p:nvPr/>
        </p:nvSpPr>
        <p:spPr>
          <a:xfrm>
            <a:off x="6876288" y="1554480"/>
            <a:ext cx="1700784" cy="868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Claim-file summaries, draft letters, plain-language explanations</a:t>
            </a:r>
            <a:endParaRPr lang="en-US" sz="1300" dirty="0"/>
          </a:p>
        </p:txBody>
      </p:sp>
      <p:sp>
        <p:nvSpPr>
          <p:cNvPr id="24" name="Shape 21"/>
          <p:cNvSpPr/>
          <p:nvPr/>
        </p:nvSpPr>
        <p:spPr>
          <a:xfrm>
            <a:off x="6876288" y="2377440"/>
            <a:ext cx="1700784" cy="320040"/>
          </a:xfrm>
          <a:prstGeom prst="roundRect">
            <a:avLst>
              <a:gd name="adj" fmla="val 22857"/>
            </a:avLst>
          </a:prstGeom>
          <a:solidFill>
            <a:srgbClr val="E9A23B"/>
          </a:solidFill>
          <a:ln w="12700">
            <a:solidFill>
              <a:srgbClr val="E9A23B"/>
            </a:solidFill>
            <a:prstDash val="solid"/>
          </a:ln>
        </p:spPr>
      </p:sp>
      <p:sp>
        <p:nvSpPr>
          <p:cNvPr id="25" name="Text 22"/>
          <p:cNvSpPr txBox="1"/>
          <p:nvPr/>
        </p:nvSpPr>
        <p:spPr>
          <a:xfrm>
            <a:off x="6876288" y="2377440"/>
            <a:ext cx="1700784" cy="320040"/>
          </a:xfrm>
          <a:prstGeom prst="rect">
            <a:avLst/>
          </a:prstGeom>
          <a:noFill/>
          <a:ln/>
        </p:spPr>
        <p:txBody>
          <a:bodyPr wrap="square" lIns="0" tIns="0" rIns="0" bIns="0" rtlCol="0" anchor="ctr"/>
          <a:lstStyle/>
          <a:p>
            <a:pPr algn="ctr" indent="0" marL="0">
              <a:buNone/>
            </a:pPr>
            <a:r>
              <a:rPr lang="en-US" sz="1100" b="1" dirty="0">
                <a:solidFill>
                  <a:srgbClr val="0F3D3E"/>
                </a:solidFill>
                <a:latin typeface="Calibri" pitchFamily="34" charset="0"/>
                <a:ea typeface="Calibri" pitchFamily="34" charset="-122"/>
                <a:cs typeface="Calibri" pitchFamily="34" charset="-120"/>
              </a:rPr>
              <a:t>Future use</a:t>
            </a:r>
            <a:endParaRPr lang="en-US" sz="1100" dirty="0"/>
          </a:p>
        </p:txBody>
      </p:sp>
      <p:sp>
        <p:nvSpPr>
          <p:cNvPr id="26" name="Text 23"/>
          <p:cNvSpPr txBox="1"/>
          <p:nvPr/>
        </p:nvSpPr>
        <p:spPr>
          <a:xfrm>
            <a:off x="457200" y="2971800"/>
            <a:ext cx="3931920" cy="274320"/>
          </a:xfrm>
          <a:prstGeom prst="rect">
            <a:avLst/>
          </a:prstGeom>
          <a:noFill/>
          <a:ln/>
        </p:spPr>
        <p:txBody>
          <a:bodyPr wrap="square" lIns="0" tIns="0" rIns="0" bIns="0" rtlCol="0" anchor="ctr"/>
          <a:lstStyle/>
          <a:p>
            <a:pPr indent="0" marL="0">
              <a:buNone/>
            </a:pPr>
            <a:r>
              <a:rPr lang="en-US" sz="1600" b="1" dirty="0">
                <a:solidFill>
                  <a:srgbClr val="1A7F7A"/>
                </a:solidFill>
                <a:latin typeface="Cambria" pitchFamily="34" charset="0"/>
                <a:ea typeface="Cambria" pitchFamily="34" charset="-122"/>
                <a:cs typeface="Cambria" pitchFamily="34" charset="-120"/>
              </a:rPr>
              <a:t>Tools and platforms</a:t>
            </a:r>
            <a:endParaRPr lang="en-US" sz="1600" dirty="0"/>
          </a:p>
        </p:txBody>
      </p:sp>
      <p:sp>
        <p:nvSpPr>
          <p:cNvPr id="27" name="Text 24"/>
          <p:cNvSpPr txBox="1"/>
          <p:nvPr/>
        </p:nvSpPr>
        <p:spPr>
          <a:xfrm>
            <a:off x="457200" y="3291840"/>
            <a:ext cx="4114800" cy="8686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Excel + OpenSolver: statements, CAPM, portfolios</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Python: pandas, scikit-learn, SciPy, Matplotlib</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ipywidgets predictor with risk band and explanations</a:t>
            </a:r>
            <a:endParaRPr lang="en-US" sz="1300" dirty="0"/>
          </a:p>
        </p:txBody>
      </p:sp>
      <p:sp>
        <p:nvSpPr>
          <p:cNvPr id="28" name="Text 25"/>
          <p:cNvSpPr txBox="1"/>
          <p:nvPr/>
        </p:nvSpPr>
        <p:spPr>
          <a:xfrm>
            <a:off x="4754880" y="2971800"/>
            <a:ext cx="3931920" cy="274320"/>
          </a:xfrm>
          <a:prstGeom prst="rect">
            <a:avLst/>
          </a:prstGeom>
          <a:noFill/>
          <a:ln/>
        </p:spPr>
        <p:txBody>
          <a:bodyPr wrap="square" lIns="0" tIns="0" rIns="0" bIns="0" rtlCol="0" anchor="ctr"/>
          <a:lstStyle/>
          <a:p>
            <a:pPr indent="0" marL="0">
              <a:buNone/>
            </a:pPr>
            <a:r>
              <a:rPr lang="en-US" sz="1600" b="1" dirty="0">
                <a:solidFill>
                  <a:srgbClr val="1A7F7A"/>
                </a:solidFill>
                <a:latin typeface="Cambria" pitchFamily="34" charset="0"/>
                <a:ea typeface="Cambria" pitchFamily="34" charset="-122"/>
                <a:cs typeface="Cambria" pitchFamily="34" charset="-120"/>
              </a:rPr>
              <a:t>GenAI guardrails</a:t>
            </a:r>
            <a:endParaRPr lang="en-US" sz="1600" dirty="0"/>
          </a:p>
        </p:txBody>
      </p:sp>
      <p:sp>
        <p:nvSpPr>
          <p:cNvPr id="29" name="Text 26"/>
          <p:cNvSpPr txBox="1"/>
          <p:nvPr/>
        </p:nvSpPr>
        <p:spPr>
          <a:xfrm>
            <a:off x="4754880" y="3291840"/>
            <a:ext cx="3931920" cy="8686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Ground outputs in verified documents</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Human review and logging before use</a:t>
            </a:r>
            <a:endParaRPr lang="en-US" sz="1300" dirty="0"/>
          </a:p>
          <a:p>
            <a:pPr marL="342900" indent="-342900">
              <a:spcAft>
                <a:spcPts val="500"/>
              </a:spcAft>
              <a:buSzPct val="100000"/>
              <a:buChar char="•"/>
            </a:pPr>
            <a:r>
              <a:rPr lang="en-US" sz="1300" dirty="0">
                <a:solidFill>
                  <a:srgbClr val="1F2933"/>
                </a:solidFill>
                <a:latin typeface="Calibri" pitchFamily="34" charset="0"/>
                <a:ea typeface="Calibri" pitchFamily="34" charset="-122"/>
                <a:cs typeface="Calibri" pitchFamily="34" charset="-120"/>
              </a:rPr>
              <a:t>Customer data must follow the DPDP Act 2023</a:t>
            </a:r>
            <a:endParaRPr lang="en-US" sz="1300" dirty="0"/>
          </a:p>
        </p:txBody>
      </p:sp>
      <p:sp>
        <p:nvSpPr>
          <p:cNvPr id="30" name="Shape 27"/>
          <p:cNvSpPr/>
          <p:nvPr/>
        </p:nvSpPr>
        <p:spPr>
          <a:xfrm>
            <a:off x="457200" y="4251960"/>
            <a:ext cx="8229600" cy="548640"/>
          </a:xfrm>
          <a:prstGeom prst="rect">
            <a:avLst/>
          </a:prstGeom>
          <a:solidFill>
            <a:srgbClr val="0F3D3E"/>
          </a:solidFill>
          <a:ln w="12700">
            <a:solidFill>
              <a:srgbClr val="0F3D3E"/>
            </a:solidFill>
            <a:prstDash val="solid"/>
          </a:ln>
        </p:spPr>
      </p:sp>
      <p:sp>
        <p:nvSpPr>
          <p:cNvPr id="31" name="Text 28"/>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Honest scope: no GenAI was used in the models; the value lies in governed, human-supervised analytics.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3D3E"/>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Risks, implications and recommendations</a:t>
            </a:r>
            <a:endParaRPr lang="en-US" sz="2400" dirty="0"/>
          </a:p>
        </p:txBody>
      </p:sp>
      <p:sp>
        <p:nvSpPr>
          <p:cNvPr id="3" name="Text 1"/>
          <p:cNvSpPr txBox="1"/>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rgbClr val="BFE3DC"/>
                </a:solidFill>
                <a:latin typeface="Calibri" pitchFamily="34" charset="0"/>
                <a:ea typeface="Calibri" pitchFamily="34" charset="-122"/>
                <a:cs typeface="Calibri" pitchFamily="34" charset="-120"/>
              </a:rPr>
              <a:t>Alex Abraham | 25121007 | Financial and Risk Analytics | CIA-4 Insurance</a:t>
            </a:r>
            <a:endParaRPr lang="en-US" sz="1000" dirty="0"/>
          </a:p>
        </p:txBody>
      </p:sp>
      <p:sp>
        <p:nvSpPr>
          <p:cNvPr id="4" name="Text 2"/>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1000" dirty="0">
                <a:solidFill>
                  <a:srgbClr val="BFE3DC"/>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2743200"/>
                <a:gridCol w="3749040"/>
              </a:tblGrid>
              <a:tr h="31089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0F3D3E"/>
                    </a:solidFill>
                  </a:tcPr>
                </a:tc>
              </a:tr>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Underwriting and cost</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1A7F7A"/>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Combined ratio 103.4%; expenses 32.0%</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Track by segment on 1/n and 'n' bases; monitor commission drift</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Market and investment</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1A7F7A"/>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FVCA -₹774 cr; GIC Re volatility 44%</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EEF5F3"/>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Set investment limits; report VaR and drawdown</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EEF5F3"/>
                    </a:solidFill>
                  </a:tcPr>
                </a:tc>
              </a:tr>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 risk</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1A7F7A"/>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AUC 0.665; French data only</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Validate on local dated data; fairness review; drift monitoring</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Fraud and data</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1A7F7A"/>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 flagged; no fraud labels</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EEF5F3"/>
                    </a:solidFill>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Log review outcomes; humans decide; no auto-decline</a:t>
                      </a:r>
                      <a:endParaRPr lang="en-US" sz="1200" dirty="0">
                        <a:latin typeface="Calibri" charset="0"/>
                        <a:ea typeface="Calibri" charset="0"/>
                        <a:cs typeface="Calibri" charset="0"/>
                      </a:endParaRPr>
                    </a:p>
                  </a:txBody>
                  <a:tcPr marL="73152" marR="73152" marT="27432" marB="27432" anchor="ctr">
                    <a:lnL w="6350" cap="flat" cmpd="sng" algn="ctr">
                      <a:solidFill>
                        <a:srgbClr val="CFD8D5"/>
                      </a:solidFill>
                      <a:prstDash val="solid"/>
                      <a:round/>
                      <a:headEnd type="none" w="med" len="med"/>
                      <a:tailEnd type="none" w="med" len="med"/>
                    </a:lnL>
                    <a:lnR w="6350" cap="flat" cmpd="sng" algn="ctr">
                      <a:solidFill>
                        <a:srgbClr val="CFD8D5"/>
                      </a:solidFill>
                      <a:prstDash val="solid"/>
                      <a:round/>
                      <a:headEnd type="none" w="med" len="med"/>
                      <a:tailEnd type="none" w="med" len="med"/>
                    </a:lnR>
                    <a:lnT w="6350" cap="flat" cmpd="sng" algn="ctr">
                      <a:solidFill>
                        <a:srgbClr val="CFD8D5"/>
                      </a:solidFill>
                      <a:prstDash val="solid"/>
                      <a:round/>
                      <a:headEnd type="none" w="med" len="med"/>
                      <a:tailEnd type="none" w="med" len="med"/>
                    </a:lnT>
                    <a:lnB w="6350" cap="flat" cmpd="sng" algn="ctr">
                      <a:solidFill>
                        <a:srgbClr val="CFD8D5"/>
                      </a:solidFill>
                      <a:prstDash val="solid"/>
                      <a:round/>
                      <a:headEnd type="none" w="med" len="med"/>
                      <a:tailEnd type="none" w="med" len="med"/>
                    </a:lnB>
                    <a:solidFill>
                      <a:srgbClr val="EEF5F3"/>
                    </a:solidFill>
                  </a:tcPr>
                </a:tc>
              </a:tr>
            </a:tbl>
          </a:graphicData>
        </a:graphic>
      </p:graphicFrame>
      <p:sp>
        <p:nvSpPr>
          <p:cNvPr id="7" name="Shape 3"/>
          <p:cNvSpPr/>
          <p:nvPr/>
        </p:nvSpPr>
        <p:spPr>
          <a:xfrm>
            <a:off x="457200" y="3200400"/>
            <a:ext cx="4023360" cy="1463040"/>
          </a:xfrm>
          <a:prstGeom prst="rect">
            <a:avLst/>
          </a:prstGeom>
          <a:solidFill>
            <a:srgbClr val="1A7F7A"/>
          </a:solidFill>
          <a:ln w="12700">
            <a:solidFill>
              <a:srgbClr val="1A7F7A"/>
            </a:solidFill>
            <a:prstDash val="solid"/>
          </a:ln>
        </p:spPr>
      </p:sp>
      <p:sp>
        <p:nvSpPr>
          <p:cNvPr id="8" name="Text 4"/>
          <p:cNvSpPr txBox="1"/>
          <p:nvPr/>
        </p:nvSpPr>
        <p:spPr>
          <a:xfrm>
            <a:off x="594360" y="3264408"/>
            <a:ext cx="3749040" cy="274320"/>
          </a:xfrm>
          <a:prstGeom prst="rect">
            <a:avLst/>
          </a:prstGeom>
          <a:noFill/>
          <a:ln/>
        </p:spPr>
        <p:txBody>
          <a:bodyPr wrap="square" lIns="0" tIns="0" rIns="0" bIns="0" rtlCol="0" anchor="ctr"/>
          <a:lstStyle/>
          <a:p>
            <a:pPr indent="0" marL="0">
              <a:buNone/>
            </a:pPr>
            <a:r>
              <a:rPr lang="en-US" sz="1500" b="1" dirty="0">
                <a:solidFill>
                  <a:srgbClr val="E9A23B"/>
                </a:solidFill>
                <a:latin typeface="Cambria" pitchFamily="34" charset="0"/>
                <a:ea typeface="Cambria" pitchFamily="34" charset="-122"/>
                <a:cs typeface="Cambria" pitchFamily="34" charset="-120"/>
              </a:rPr>
              <a:t>Business implication</a:t>
            </a:r>
            <a:endParaRPr lang="en-US" sz="1500" dirty="0"/>
          </a:p>
        </p:txBody>
      </p:sp>
      <p:sp>
        <p:nvSpPr>
          <p:cNvPr id="9" name="Text 5"/>
          <p:cNvSpPr txBox="1"/>
          <p:nvPr/>
        </p:nvSpPr>
        <p:spPr>
          <a:xfrm>
            <a:off x="594360" y="3566160"/>
            <a:ext cx="3749040" cy="10058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1 point of loss ratio on ₹22,264 cr NEP is worth about ₹223 cr pre-tax, roughly 8% of FY2026 PAT. Small cost and risk-selection gains matter when the combined ratio sits near 100%.</a:t>
            </a:r>
            <a:endParaRPr lang="en-US" sz="1400" dirty="0"/>
          </a:p>
        </p:txBody>
      </p:sp>
      <p:sp>
        <p:nvSpPr>
          <p:cNvPr id="10" name="Shape 6"/>
          <p:cNvSpPr/>
          <p:nvPr/>
        </p:nvSpPr>
        <p:spPr>
          <a:xfrm>
            <a:off x="4663440" y="3200400"/>
            <a:ext cx="4023360" cy="1463040"/>
          </a:xfrm>
          <a:prstGeom prst="rect">
            <a:avLst/>
          </a:prstGeom>
          <a:solidFill>
            <a:srgbClr val="164F50"/>
          </a:solidFill>
          <a:ln w="12700">
            <a:solidFill>
              <a:srgbClr val="164F50"/>
            </a:solidFill>
            <a:prstDash val="solid"/>
          </a:ln>
        </p:spPr>
      </p:sp>
      <p:sp>
        <p:nvSpPr>
          <p:cNvPr id="11" name="Text 7"/>
          <p:cNvSpPr txBox="1"/>
          <p:nvPr/>
        </p:nvSpPr>
        <p:spPr>
          <a:xfrm>
            <a:off x="4800600" y="3264408"/>
            <a:ext cx="3749040" cy="274320"/>
          </a:xfrm>
          <a:prstGeom prst="rect">
            <a:avLst/>
          </a:prstGeom>
          <a:noFill/>
          <a:ln/>
        </p:spPr>
        <p:txBody>
          <a:bodyPr wrap="square" lIns="0" tIns="0" rIns="0" bIns="0" rtlCol="0" anchor="ctr"/>
          <a:lstStyle/>
          <a:p>
            <a:pPr indent="0" marL="0">
              <a:buNone/>
            </a:pPr>
            <a:r>
              <a:rPr lang="en-US" sz="1500" b="1" dirty="0">
                <a:solidFill>
                  <a:srgbClr val="E9A23B"/>
                </a:solidFill>
                <a:latin typeface="Cambria" pitchFamily="34" charset="0"/>
                <a:ea typeface="Cambria" pitchFamily="34" charset="-122"/>
                <a:cs typeface="Cambria" pitchFamily="34" charset="-120"/>
              </a:rPr>
              <a:t>Conclusion</a:t>
            </a:r>
            <a:endParaRPr lang="en-US" sz="1500" dirty="0"/>
          </a:p>
        </p:txBody>
      </p:sp>
      <p:sp>
        <p:nvSpPr>
          <p:cNvPr id="12" name="Text 8"/>
          <p:cNvSpPr txBox="1"/>
          <p:nvPr/>
        </p:nvSpPr>
        <p:spPr>
          <a:xfrm>
            <a:off x="4800600" y="3566160"/>
            <a:ext cx="3749040" cy="10515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Profit rests on capital strength and investment income, not underwriting. Models rank risk usefully but need local validation and human oversight. Limits: one insurer, three years, French claim data.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and Risk Analytics in the Insurance Sector</dc:title>
  <dc:subject>PptxGenJS Presentation</dc:subject>
  <dc:creator>Alex Abraham</dc:creator>
  <cp:lastModifiedBy>Alex Abraham</cp:lastModifiedBy>
  <cp:revision>1</cp:revision>
  <dcterms:created xsi:type="dcterms:W3CDTF">2026-10-09T16:08:21Z</dcterms:created>
  <dcterms:modified xsi:type="dcterms:W3CDTF">2026-10-09T16:08:21Z</dcterms:modified>
</cp:coreProperties>
</file>